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RSI GLOBAL ENTERPRISE · 跨國高階機能成衣製造集團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7524"/>
                </a:solidFill>
                <a:latin typeface="PingFang TC"/>
              </a:defRPr>
            </a:pPr>
            <a:r>
              <a:t>信源全球 2027 年 IT 策略與投資藍圖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  <a:latin typeface="PingFang TC"/>
              </a:defRPr>
            </a:pPr>
            <a:r>
              <a:t>整合運用・智能營運——以數位底座守護跨國製造韌性，以數據中台驅動精準履約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7315200" cy="2103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6908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呈報對象：執行長（CEO）暨經營管理委員會</a:t>
            </a:r>
          </a:p>
          <a:p>
            <a:pPr>
              <a:spcAft>
                <a:spcPts val="400"/>
              </a:spcAft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計劃主持人：周文津 副總（Executive Sponsor）</a:t>
            </a:r>
          </a:p>
          <a:p>
            <a:pPr>
              <a:spcAft>
                <a:spcPts val="400"/>
              </a:spcAft>
              <a:defRPr sz="1500" b="1">
                <a:solidFill>
                  <a:srgbClr val="E87524"/>
                </a:solidFill>
                <a:latin typeface="PingFang TC"/>
              </a:defRPr>
            </a:pPr>
            <a:r>
              <a:t>報告人 Howard Liao Ph.D.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PingFang TC"/>
              </a:defRPr>
            </a:pPr>
            <a:r>
              <a:t>文件編號：RSI-BOD-2027-STRAT-001 ｜ 機密等級：極機密（Board Confidential）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PingFang TC"/>
              </a:defRPr>
            </a:pPr>
            <a:r>
              <a:t>基準年度：2027 全球戰略投資佈局 ｜ 生產基地：台北 · 越南 · 柬埔寨 · 印尼</a:t>
            </a:r>
          </a:p>
        </p:txBody>
      </p:sp>
      <p:pic>
        <p:nvPicPr>
          <p:cNvPr id="9" name="Picture 8" descr="icon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463040"/>
            <a:ext cx="2743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 頁 / 共 20 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壹、 背景與目的 ｜ 跨國營運版圖與使命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全球機能服龍頭的數位轉型戰略使命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【核心結論】面對集團年出貨 7,500 萬件的跨國精準履約挑戰，IT 不再是行政支援支出，而是捍衛毛利、防禦空運包機罰款與確保斷網生產韌性的戰略資本。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4297680" cy="1874519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台北總部（決策中樞）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戰略架構決策、Databricks 30TB 湖倉中台與全球主數據 (MDM)</a:t>
            </a:r>
            <a:br/>
            <a:r>
              <a:t>• 頂級品牌客戶 API 統一對接與 ISO 27001 資安治理指揮中心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331720"/>
            <a:ext cx="4297680" cy="1874519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468880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越南隆安/西寧旗艦廠（主力產能）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集團最大生產重鎮，作為 4-Gate 產前門禁首波攻堅示範基地</a:t>
            </a:r>
            <a:br/>
            <a:r>
              <a:t>• 車間部署邊緣主機，率先實踐 72 小時斷網離線自主生產能力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4297680" cy="1874519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柬埔寨金邊廠（大貨重鎮）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承接歐美大宗機能成衣高週轉訂單，全面推動 48h 離線邊緣生產</a:t>
            </a:r>
            <a:br/>
            <a:r>
              <a:t>• 導入 Tech Pack 多國語工藝 RAG 庫，消弭跨語言做工誤解返修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343400"/>
            <a:ext cx="4297680" cy="1874519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4480560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印尼中爪哇無縫新廠（高階研發）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佈局最新無縫貼合工藝與高階貼合產線，配置溫壓品質感測 IoT</a:t>
            </a:r>
            <a:br/>
            <a:r>
              <a:t>• 嚴格落實印尼 PDP 數據主權法規，實施敏感人事在地邊緣留存</a:t>
            </a:r>
          </a:p>
        </p:txBody>
      </p:sp>
      <p:pic>
        <p:nvPicPr>
          <p:cNvPr id="16" name="Picture 15" descr="icon_02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2 頁 / 共 20 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壹、 背景與目的 ｜ 戰略對齊地圖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公司商業目標與 IT 策略對齊矩陣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【核心結論】IT 策略 100% 映射集團 2027 五大商業目標，每一項技術交付皆由業務高管共同掛帥背書，杜絕 IT 單打獨鬥自嗨。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目標 1：準時交貨 (OTD) ≥ 98.5%  ➔  </a:t>
            </a:r>
            <a:r>
              <a:rPr b="1" sz="1200">
                <a:solidFill>
                  <a:srgbClr val="222222"/>
                </a:solidFill>
              </a:rPr>
              <a:t>供應鏈 Control Tower ＋ Flink 提前 72h 缺料即時預警  </a:t>
            </a:r>
            <a:r>
              <a:rPr sz="1100">
                <a:solidFill>
                  <a:srgbClr val="666666"/>
                </a:solidFill>
              </a:rPr>
              <a:t>[共同當責：大貨採購副總 ＋ 數據架構組長]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目標 2：毛利率實質提升 1.5%  ➔  </a:t>
            </a:r>
            <a:r>
              <a:rPr b="1" sz="1200">
                <a:solidFill>
                  <a:srgbClr val="222222"/>
                </a:solidFill>
              </a:rPr>
              <a:t>Ready-to-Sew 4-Gate 產前門禁 ＋ OR-Tools 動態排線模擬  </a:t>
            </a:r>
            <a:r>
              <a:rPr sz="1100">
                <a:solidFill>
                  <a:srgbClr val="666666"/>
                </a:solidFill>
              </a:rPr>
              <a:t>[共同當責：生產營運副總 ＋ 流程架構師]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目標 3：布料損耗降低 1.0%～1.2%  ➔  </a:t>
            </a:r>
            <a:r>
              <a:rPr b="1" sz="1200">
                <a:solidFill>
                  <a:srgbClr val="222222"/>
                </a:solidFill>
              </a:rPr>
              <a:t>Profisee MDM 全球主數據統一 ＋ Databricks 30TB 湖倉中台  </a:t>
            </a:r>
            <a:r>
              <a:rPr sz="1100">
                <a:solidFill>
                  <a:srgbClr val="666666"/>
                </a:solidFill>
              </a:rPr>
              <a:t>[共同當責：技術研發副總 ＋ 數據治理主管]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目標 4：海外新廠快速複製開箱  ➔  </a:t>
            </a:r>
            <a:r>
              <a:rPr b="1" sz="1200">
                <a:solidFill>
                  <a:srgbClr val="222222"/>
                </a:solidFill>
              </a:rPr>
              <a:t>Fortinet 雙軌 SD-WAN ＋ 車間研華工業邊緣主機 (K3s 容器)  </a:t>
            </a:r>
            <a:r>
              <a:rPr sz="1100">
                <a:solidFill>
                  <a:srgbClr val="666666"/>
                </a:solidFill>
              </a:rPr>
              <a:t>[共同當責：海外營運副總 ＋ 基礎設施主管]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目標 5：國際頂級品牌客戶深耕  ➔  </a:t>
            </a:r>
            <a:r>
              <a:rPr b="1" sz="1200">
                <a:solidFill>
                  <a:srgbClr val="222222"/>
                </a:solidFill>
              </a:rPr>
              <a:t>Entra ID ABAC 數據無菌室 ＋ CrowdStrike 24/7 全託管 MDR  </a:t>
            </a:r>
            <a:r>
              <a:rPr sz="1100">
                <a:solidFill>
                  <a:srgbClr val="666666"/>
                </a:solidFill>
              </a:rPr>
              <a:t>[共同當責：業務行銷副總 ＋ 資安長 (CISO)]</a:t>
            </a:r>
          </a:p>
        </p:txBody>
      </p:sp>
      <p:pic>
        <p:nvPicPr>
          <p:cNvPr id="18" name="Picture 17" descr="icon_03_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3 頁 / 共 20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貳、 核心問題與現況 ｜ 外部環境驅動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東南亞數據主權與國際品牌資安挑戰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【核心結論】面對東南亞各國數據主權法規收緊與 Nike/Lululemon 等大客戶資安極致要求，合規與韌性是信源全球未來五年接單的強制門票。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越南《網絡安全法》(Decree 53/2022)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規範要求：在越南境內蒐集之人事與薪資數據必須在地存儲</a:t>
            </a:r>
            <a:br/>
            <a:r>
              <a:t>• 處方應對：敏感人事數據嚴格留存隆安邊緣節點，去機敏特徵才回傳總部湖倉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2402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3774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印尼《個人數據保護法》(PDP 2024)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規範要求：罰款高達全球營收 2%，強制要求落實數據本地化與傳輸加密</a:t>
            </a:r>
            <a:br/>
            <a:r>
              <a:t>• 處方應對：中爪哇基地實施實體邊緣隔離與本地金鑰管理，通過當地合規備查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品牌客戶供應鏈資安驗廠 (Nike / Lululemon)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規範要求：要求具備 24/7 SOC 監控、MFA 雙因子 100% 覆蓋與獨立災備演練</a:t>
            </a:r>
            <a:br/>
            <a:r>
              <a:t>• 處方應對：導入 CrowdStrike 24/7 MDR 全託管與 Entra ID 統一身分條件存取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2976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44348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歐盟數位產品護照 (DPP 2027 綠色新政)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規範要求：要求機能成衣具備單件碳足跡追溯與布料循環履歷證明</a:t>
            </a:r>
            <a:br/>
            <a:r>
              <a:t>• 處方應對：Databricks 串接車間智慧電錶與蒸汽流量數據，自動產出單件成衣碳排</a:t>
            </a:r>
          </a:p>
        </p:txBody>
      </p:sp>
      <p:pic>
        <p:nvPicPr>
          <p:cNvPr id="16" name="Picture 15" descr="icon_04_com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4 頁 / 共 20 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貳、 核心問題與現況 ｜ 現況能力診斷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全集團六大維度 IT 能力成熟度與升級目標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【核心結論】現況呈現「業務單點系統建置尚可，但資料孤島斷點多、夜間防護真空、車間依賴外網」之脆弱平衡；數據、資安與 AI 為三大升級焦點。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621792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6532D"/>
                </a:solidFill>
              </a:rPr>
              <a:t>數位業務應用  |  現況：2.8 (Amber)  ➔  2027 目標：4.2 (Green)  
</a:t>
            </a:r>
            <a:r>
              <a:rPr sz="1050">
                <a:solidFill>
                  <a:srgbClr val="222222"/>
                </a:solidFill>
              </a:rPr>
              <a:t>重點措施：消除手工 Excel 巨集，打通生管、MES 與 WMS 全流程可視化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8778240" cy="6217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6532D"/>
                </a:solidFill>
              </a:rPr>
              <a:t>雲端與跨國網路  |  現況：2.5 (Amber)  ➔  2027 目標：4.5 (Green)  
</a:t>
            </a:r>
            <a:r>
              <a:rPr sz="1050">
                <a:solidFill>
                  <a:srgbClr val="222222"/>
                </a:solidFill>
              </a:rPr>
              <a:t>重點措施：淘汰過保 Dell 伺服器，總部雙活 ＋ 海外 Fortinet 雙軌 SD-WAN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8778240" cy="621792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6532D"/>
                </a:solidFill>
              </a:rPr>
              <a:t>資料平台與治理  |  現況：2.0 (Red)  ➔  2027 目標：4.0 (Green)  
</a:t>
            </a:r>
            <a:r>
              <a:rPr sz="1050">
                <a:solidFill>
                  <a:srgbClr val="222222"/>
                </a:solidFill>
              </a:rPr>
              <a:t>重點措施：導入 Databricks 30TB 湖倉中台 ＋ Profisee MDM 全球主數據清洗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8778240" cy="6217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6532D"/>
                </a:solidFill>
              </a:rPr>
              <a:t>資安韌性與法遵  |  現況：2.2 (Red)  ➔  2027 目標：4.6 (Green)  
</a:t>
            </a:r>
            <a:r>
              <a:rPr sz="1050">
                <a:solidFill>
                  <a:srgbClr val="222222"/>
                </a:solidFill>
              </a:rPr>
              <a:t>重點措施：部署 CrowdStrike 24/7 MDR ＋ 車間 48~72h 離線自律 ＋ Zerto 災備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8778240" cy="621792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6532D"/>
                </a:solidFill>
              </a:rPr>
              <a:t>企業 AI 與自動化  |  現況：1.5 (Red)  ➔  2027 目標：3.8 (Green)  
</a:t>
            </a:r>
            <a:r>
              <a:rPr sz="1050">
                <a:solidFill>
                  <a:srgbClr val="222222"/>
                </a:solidFill>
              </a:rPr>
              <a:t>重點措施：搭建 ISO 42001 安全框架、Tech Pack 多國語 RAG 與生管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8778240" cy="6217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9671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6532D"/>
                </a:solidFill>
              </a:rPr>
              <a:t>組織與人才生態  |  現況：2.6 (Amber)  ➔  2027 目標：4.0 (Green)  
</a:t>
            </a:r>
            <a:r>
              <a:rPr sz="1050">
                <a:solidFill>
                  <a:srgbClr val="222222"/>
                </a:solidFill>
              </a:rPr>
              <a:t>重點措施：建立 16~18 人內部核心架構師小組，結合原廠顧問與敏捷突擊隊</a:t>
            </a:r>
          </a:p>
        </p:txBody>
      </p:sp>
      <p:pic>
        <p:nvPicPr>
          <p:cNvPr id="20" name="Picture 19" descr="icon_05_mat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5 頁 / 共 20 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貳、 核心問題與現況 ｜ 技術債與風險清冊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全集團重大技術債診斷與不投資致命後果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【核心結論】累積之技術債已逼近臨界點；若不投資將直接導致海外產線突發停擺、跨國空運違約罰款與核心營業數據遭勒索銷毀。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R1 核心主機過保 (Dell R740)  
</a:t>
            </a:r>
            <a:r>
              <a:rPr sz="1050">
                <a:solidFill>
                  <a:srgbClr val="222222"/>
                </a:solidFill>
              </a:rPr>
              <a:t>現況痛點：機房硬體已過保無備品，主機板損壞將使 MES 停擺 3~5 天  |  </a:t>
            </a:r>
            <a:r>
              <a:rPr b="1" sz="1050">
                <a:solidFill>
                  <a:srgbClr val="E5B300"/>
                </a:solidFill>
              </a:rPr>
              <a:t>不投資後果：單日停工損失高達 $4.5 萬美元，交期嚴重延遲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R2 海外海纜斷網停擺卡死  
</a:t>
            </a:r>
            <a:r>
              <a:rPr sz="1050">
                <a:solidFill>
                  <a:srgbClr val="222222"/>
                </a:solidFill>
              </a:rPr>
              <a:t>現況痛點：車間高度依賴外網，斷網時無法讀單計工，產線癱瘓  |  </a:t>
            </a:r>
            <a:r>
              <a:rPr b="1" sz="1050">
                <a:solidFill>
                  <a:srgbClr val="E5B300"/>
                </a:solidFill>
              </a:rPr>
              <a:t>不投資後果：每年因突發斷網損失逾 120 小時有效車間工時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R3 缺乏防勒索 WORM 備份  
</a:t>
            </a:r>
            <a:r>
              <a:rPr sz="1050">
                <a:solidFill>
                  <a:srgbClr val="222222"/>
                </a:solidFill>
              </a:rPr>
              <a:t>現況痛點：勒索病毒加密資料且備份槽同步銷毀，缺乏 24/7 監控  |  </a:t>
            </a:r>
            <a:r>
              <a:rPr b="1" sz="1050">
                <a:solidFill>
                  <a:srgbClr val="E5B300"/>
                </a:solidFill>
              </a:rPr>
              <a:t>不投資後果：遭勒索數千萬元或業務歷史數據永久遺失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R4 原副料跨廠同料不同號  
</a:t>
            </a:r>
            <a:r>
              <a:rPr sz="1050">
                <a:solidFill>
                  <a:srgbClr val="222222"/>
                </a:solidFill>
              </a:rPr>
              <a:t>現況痛點：各廠料號各自為政，總部無法調撥庫存，重複採購呆料  |  </a:t>
            </a:r>
            <a:r>
              <a:rPr b="1" sz="1050">
                <a:solidFill>
                  <a:srgbClr val="E5B300"/>
                </a:solidFill>
              </a:rPr>
              <a:t>不投資後果：庫存資金積壓數千萬元，呆料報廢率居高不下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R5 產前未齊盲目投產窩工  
</a:t>
            </a:r>
            <a:r>
              <a:rPr sz="1050">
                <a:solidFill>
                  <a:srgbClr val="222222"/>
                </a:solidFill>
              </a:rPr>
              <a:t>現況痛點：未滿足齊套條件即發料，頻繁拆線返修，換線效率崩跌  |  </a:t>
            </a:r>
            <a:r>
              <a:rPr b="1" sz="1050">
                <a:solidFill>
                  <a:srgbClr val="E5B300"/>
                </a:solidFill>
              </a:rPr>
              <a:t>不投資後果：換線首日生產達標率僅 60%，工時嚴重浪費 30%</a:t>
            </a:r>
          </a:p>
        </p:txBody>
      </p:sp>
      <p:pic>
        <p:nvPicPr>
          <p:cNvPr id="18" name="Picture 17" descr="icon_06_techdeb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6 頁 / 共 20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參、 主要分析與關鍵洞察 ｜ 成本效益模型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單件成衣數位成本 (DCPG) 僅需 NT$ 0.27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【核心結論】在全集團年出貨 7,500 萬件成衣的規模下，NT$ 2,016 萬基準預算平攤至單件成衣數位成本僅 NT$ 0.27，以微薄成本換取極致營運韌性。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50">
                <a:solidFill>
                  <a:srgbClr val="B6532D"/>
                </a:solidFill>
              </a:rPr>
              <a:t>單件成衣數位成本 (DCPG)
</a:t>
            </a:r>
          </a:p>
          <a:p>
            <a:pPr algn="ctr"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2026 現況基線為 NT$ 0.45 / 件，透過分層授權與現代化降幅達 40%</a:t>
            </a:r>
            <a:br/>
            <a:r>
              <a:t>• 計算公式：總預算 NT$ 2,016 萬 ÷ 集團年出貨量 7,500 萬件</a:t>
            </a:r>
          </a:p>
          <a:p>
            <a:pPr algn="r"/>
            <a:r>
              <a:rPr b="1" sz="1300">
                <a:solidFill>
                  <a:srgbClr val="E5B300"/>
                </a:solidFill>
              </a:rPr>
              <a:t>指標數值：NT$ 0.27 /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50">
                <a:solidFill>
                  <a:srgbClr val="B6532D"/>
                </a:solidFill>
              </a:rPr>
              <a:t>出貨規模彈性敏感度分析
</a:t>
            </a:r>
          </a:p>
          <a:p>
            <a:pPr algn="ctr"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每變動 1,000 萬件出貨量，DCPG 影響僅約 ±13%</a:t>
            </a:r>
            <a:br/>
            <a:r>
              <a:t>• 具備高規模經濟特性，出貨成長越多，單件分攤數位成本越低</a:t>
            </a:r>
          </a:p>
          <a:p>
            <a:pPr algn="r"/>
            <a:r>
              <a:rPr b="1" sz="1300">
                <a:solidFill>
                  <a:srgbClr val="E5B300"/>
                </a:solidFill>
              </a:rPr>
              <a:t>指標數值：±13% 財務彈性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50">
                <a:solidFill>
                  <a:srgbClr val="B6532D"/>
                </a:solidFill>
              </a:rPr>
              <a:t>資本結構黃金比例 (Gartner 規範)
</a:t>
            </a:r>
          </a:p>
          <a:p>
            <a:pPr algn="ctr"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55% Run（維持日常運維穩健，約 NT$ 1,108 萬）</a:t>
            </a:r>
            <a:br/>
            <a:r>
              <a:t>• 25% Grow（業務擴展與產能複製，約 NT$ 504 萬）</a:t>
            </a:r>
            <a:br/>
            <a:r>
              <a:t>• 20% Transform（戰略躍升與 Agentic AI，約 NT$ 403 萬）</a:t>
            </a:r>
          </a:p>
          <a:p>
            <a:pPr algn="r"/>
            <a:r>
              <a:rPr b="1" sz="1300">
                <a:solidFill>
                  <a:srgbClr val="E5B300"/>
                </a:solidFill>
              </a:rPr>
              <a:t>指標數值：55 / 25 / 20</a:t>
            </a:r>
          </a:p>
        </p:txBody>
      </p:sp>
      <p:pic>
        <p:nvPicPr>
          <p:cNvPr id="14" name="Picture 13" descr="icon_07_dc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7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參、 主要分析與關鍵洞察 ｜ 硬性財務對沖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兩大核心對沖支柱：年省現金流 NT$ 3,700 萬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【核心結論】布料佔成衣總成本 65%；透過「防禦 2 次空運包機」與「布料損耗降低 1.2%」，每年創造 NT$ 3,700 萬硬性節省，實現 14.8 個月極速現金回本。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50">
                <a:solidFill>
                  <a:srgbClr val="B6532D"/>
                </a:solidFill>
              </a:rPr>
              <a:t>硬性對沖支柱一：防禦跨國空運包機違約
</a:t>
            </a:r>
          </a:p>
          <a:p>
            <a:pPr algn="ctr"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歷史痛點：跨國供應鏈缺料脫拍，單次跨國空運包機罰款高達 $15 萬 ~ $30 萬美元</a:t>
            </a:r>
            <a:br/>
            <a:r>
              <a:t>• 改善機制：4-Gate 產前門禁 ＋ Flink 提前 72 小時缺料告警，年防禦 2 次包機違約</a:t>
            </a:r>
          </a:p>
          <a:p>
            <a:pPr algn="r"/>
            <a:r>
              <a:rPr b="1" sz="1300">
                <a:solidFill>
                  <a:srgbClr val="E5B300"/>
                </a:solidFill>
              </a:rPr>
              <a:t>財務對沖數據：年省 NT$ 1,500 萬現金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50">
                <a:solidFill>
                  <a:srgbClr val="B6532D"/>
                </a:solidFill>
              </a:rPr>
              <a:t>硬性對沖支柱二：布料損耗率降低 1.0%～1.2%
</a:t>
            </a:r>
          </a:p>
          <a:p>
            <a:pPr algn="ctr"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歷史痛點：大貨布料佔成衣總成本 65%，各廠料號混亂造成裁剪餘料浪費與重覆採購</a:t>
            </a:r>
            <a:br/>
            <a:r>
              <a:t>• 改善機制：Profisee MDM 統一全球規格字典 ＋ CAD 排料利用率提升，降損 1.2%</a:t>
            </a:r>
          </a:p>
          <a:p>
            <a:pPr algn="r"/>
            <a:r>
              <a:rPr b="1" sz="1300">
                <a:solidFill>
                  <a:srgbClr val="E5B300"/>
                </a:solidFill>
              </a:rPr>
              <a:t>財務對沖數據：年省 NT$ 2,200 萬現金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50">
                <a:solidFill>
                  <a:srgbClr val="B6532D"/>
                </a:solidFill>
              </a:rPr>
              <a:t>投資回收期 (Payback Period) 財務推導
</a:t>
            </a:r>
          </a:p>
          <a:p>
            <a:pPr algn="ctr"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總資本投入：$640,000 USD（折合約 NT$ 2,016 萬）</a:t>
            </a:r>
            <a:br/>
            <a:r>
              <a:t>• 靜態回本計算：NT$ 2,016 萬 ÷ (NT$ 3,700 萬 ÷ 12 個月) ＝ 14.8 個月，三年期 ROI 達 1:3.84</a:t>
            </a:r>
          </a:p>
          <a:p>
            <a:pPr algn="r"/>
            <a:r>
              <a:rPr b="1" sz="1300">
                <a:solidFill>
                  <a:srgbClr val="E5B300"/>
                </a:solidFill>
              </a:rPr>
              <a:t>財務對沖數據：14.8 個月全額現金回本 (ROI 1:1.83)</a:t>
            </a:r>
          </a:p>
        </p:txBody>
      </p:sp>
      <p:pic>
        <p:nvPicPr>
          <p:cNvPr id="14" name="Picture 13" descr="icon_08_hed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8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參、 主要分析與關鍵洞察 ｜ 專案優先排序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全年度 25 項專案之價值與難度四象限分佈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【核心結論】全年度 25 項專案經商業價值與可行性科學權重評估，P1 核心必做項目排入上半年優先攻堅，奠定穩健數位底座。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P1 核心必做（高價值 / 核心底座 · 6項）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CrowdStrike 24/7 MDR 全託管資安</a:t>
            </a:r>
            <a:br/>
            <a:r>
              <a:t>• Fortinet 跨國雙軌 SD-WAN 邊緣主機</a:t>
            </a:r>
            <a:br/>
            <a:r>
              <a:t>• Zerto CDP 秒級連續資料保護災備</a:t>
            </a:r>
            <a:br/>
            <a:r>
              <a:t>• Ready-to-Sew 4-Gate 產前硬性門禁</a:t>
            </a:r>
            <a:br/>
            <a:r>
              <a:t>• Databricks 30TB 湖倉中台</a:t>
            </a:r>
            <a:br/>
            <a:r>
              <a:t>• Profisee MDM 全球主數據清洗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2402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3774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P2 戰略躍升（高價值 / 中難度 · 8項）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Tech Pack 多國語工藝 RAG 庫</a:t>
            </a:r>
            <a:br/>
            <a:r>
              <a:t>• PCD 提前 72h 缺料主動預警引擎</a:t>
            </a:r>
            <a:br/>
            <a:r>
              <a:t>• 品牌 IP 數據無菌室 (ABAC 隔離)</a:t>
            </a:r>
            <a:br/>
            <a:r>
              <a:t>• OR-Tools 車縫線平衡動態模擬器</a:t>
            </a:r>
            <a:br/>
            <a:r>
              <a:t>• ESG 數位產品護照 (DPP 碳足跡)</a:t>
            </a:r>
            <a:br/>
            <a:r>
              <a:t>• 大客戶訂單即時透明履約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P3 流程深耕（中價值 / 中低難度 · 7項）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Agentic AI 生管跟單代理人</a:t>
            </a:r>
            <a:br/>
            <a:r>
              <a:t>• RPA 進出口報關拋單機器人</a:t>
            </a:r>
            <a:br/>
            <a:r>
              <a:t>• 工藝 GSDCost 標準工時庫整合</a:t>
            </a:r>
            <a:br/>
            <a:r>
              <a:t>• M365 授權整併與 FinOps 分層治理</a:t>
            </a:r>
            <a:br/>
            <a:r>
              <a:t>• 跨國考勤人事數據本地化隔離</a:t>
            </a:r>
            <a:br/>
            <a:r>
              <a:t>• WMS 條碼與 RFID 帳實即時對齊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297680"/>
            <a:ext cx="4297680" cy="19202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44348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P4 基礎整頓（合規必備 / 低難度 · 4項）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老舊 Dell R740 伺服器虛擬化平移</a:t>
            </a:r>
            <a:br/>
            <a:r>
              <a:t>• 車間溫濕度與電力感測 IoT 部署</a:t>
            </a:r>
            <a:br/>
            <a:r>
              <a:t>• 過期 OS 與影子 SaaS 盤點退役</a:t>
            </a:r>
            <a:br/>
            <a:r>
              <a:t>• 總部與海外 API 網關整併強化</a:t>
            </a:r>
          </a:p>
        </p:txBody>
      </p:sp>
      <p:pic>
        <p:nvPicPr>
          <p:cNvPr id="16" name="Picture 15" descr="icon_09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9 頁 / 共 20 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肆、 方案、架構與做法 ｜ 總體架構藍圖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2027 總體願景與五大策略支柱架構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【核心結論】以「整合運用・智能營運」為總體綱領：以數位底座守護跨國製造韌性，以數據中台驅動精準履約，以安全 AI 賦能全球工藝傳承。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支柱一：數位成長與客戶信任
</a:t>
            </a:r>
            <a:r>
              <a:rPr sz="1100">
                <a:solidFill>
                  <a:srgbClr val="222222"/>
                </a:solidFill>
              </a:rPr>
              <a:t>架構實踐：品牌 IP 無菌室 (ABAC 隔離) ＋ 歐盟 DPP 數位產品護照 ＋ 大客戶即時履約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支柱二：AI 數據與超自動化
</a:t>
            </a:r>
            <a:r>
              <a:rPr sz="1100">
                <a:solidFill>
                  <a:srgbClr val="222222"/>
                </a:solidFill>
              </a:rPr>
              <a:t>架構實踐：Databricks 30TB 湖倉中台 ＋ Profisee 全球主數據 ＋ Tech Pack 多國語工藝 RAG 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支柱三：資安韌性與法遵
</a:t>
            </a:r>
            <a:r>
              <a:rPr sz="1100">
                <a:solidFill>
                  <a:srgbClr val="222222"/>
                </a:solidFill>
              </a:rPr>
              <a:t>架構實踐：車間 48~72h 離線自律 ＋ NIST CSF 2.0 縱深防禦 ＋ Zerto 秒級災備 ＋ 東南亞數據主權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支柱四：雲端平台與 FinOps
</a:t>
            </a:r>
            <a:r>
              <a:rPr sz="1100">
                <a:solidFill>
                  <a:srgbClr val="222222"/>
                </a:solidFill>
              </a:rPr>
              <a:t>架構實踐：核心系統 6R 現代化 ＋ 總部雙活虛擬化 ＋ M365 分層授權降本 8%~12%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支柱五：IT 治理與人才生態
</a:t>
            </a:r>
            <a:r>
              <a:rPr sz="1100">
                <a:solidFill>
                  <a:srgbClr val="222222"/>
                </a:solidFill>
              </a:rPr>
              <a:t>架構實踐：內部 16~18 人架構師編制 ＋ Q2 派駐隆安 60 天敏捷突擊隊 ＋ 原廠深度協同</a:t>
            </a:r>
          </a:p>
        </p:txBody>
      </p:sp>
      <p:pic>
        <p:nvPicPr>
          <p:cNvPr id="18" name="Picture 17" descr="icon_10_pill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10 頁 / 共 20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肆、 方案、架構與做法 ｜ 支柱一：客戶信任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品牌 IP 數據無菌室與 ESG 數位產品護照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【核心結論】透過 Entra ID ABAC 實體隔離客戶機敏 CAD，串接車間物聯產出單件成衣碳足跡，讓 IT 成為業務端競標大單的最強信任背書。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專案 1-A：品牌 IP 數據無菌室 (Brand Clean Room)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實施架構：基於 Microsoft Entra ID 實施屬性存取控制 (ABAC)，結合資料外洩防護 (DLP)</a:t>
            </a:r>
            <a:br/>
            <a:r>
              <a:t>• 業務價值：Nike、Lululemon 等大客戶 3D CAD 與馬克版型實體隔離，100% 符合 ISO 27001 驗廠標準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專案 1-B：ESG 數位產品護照 (Digital Product Passport, DPP)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實施架構：Databricks 自動串接車間智慧電錶、蒸汽流量計與水錶，計算成衣單件 Scope 3 碳足跡</a:t>
            </a:r>
            <a:br/>
            <a:r>
              <a:t>• 業務價值：完全滿足歐盟 2027 綠色新政法規要求，搶佔國際永續機能服優先發包大單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專案 1-C：大客戶即時透明履約 API (Client EDI Portal)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實施架構：透過 Kong Enterprise API Gateway 提供安全加密 API，串接品牌 ERP/生管系統</a:t>
            </a:r>
            <a:br/>
            <a:r>
              <a:t>• 業務價值：大客戶採購端可即時調閱生產進度、品質檢驗報告與交期預估，節省 80% 人工追單溝通工時</a:t>
            </a:r>
          </a:p>
        </p:txBody>
      </p:sp>
      <p:pic>
        <p:nvPicPr>
          <p:cNvPr id="14" name="Picture 13" descr="icon_11_clean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11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肆、 方案、架構與做法 ｜ 支柱二：數據中台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Databricks 30TB 湖倉中台與全球主數據治理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【核心結論】徹底終結跨廠「同料不同號」採購頑疾，建立集團單一真理（SSOT），實現預計裁剪日 (PCD) 提前 72 小時缺料主動預警。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Databricks 30TB 湖倉中台架構 (Delta Lake)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實施架構：採 Bronze / Silver / Gold 三層式架構，匯整台北 ERP、海外 MES、WMS 與機台日誌</a:t>
            </a:r>
            <a:br/>
            <a:r>
              <a:t>• 效益指標：跨國報表產出時效由 24 小時縮短至 5 分鐘，全面支持近即時生產戰情決策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Profisee MDM 全球主數據清洗與去重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實施架構：統一全集團大貨布料、副料與客戶料號編碼字典，配置 Great Expectations 品質門禁</a:t>
            </a:r>
            <a:br/>
            <a:r>
              <a:t>• 效益指標：徹底消除跨廠同料不同號，新料號未經 MDM 審核系統強制禁止下單，降低呆料報廢率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Apache Flink 提前 72h 缺料主動預警引擎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實施架構：串接供應鏈 Control Tower，比對上游染整廠出貨 ETA 與車間裁剪預排時程 (PCD)</a:t>
            </a:r>
            <a:br/>
            <a:r>
              <a:t>• 效益指標：提前 72 小時主動告警缺料風險，提供生管調撥緩衝，每年消滅 2 次以上空運包機罰款</a:t>
            </a:r>
          </a:p>
        </p:txBody>
      </p:sp>
      <p:pic>
        <p:nvPicPr>
          <p:cNvPr id="14" name="Picture 13" descr="icon_12_lak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12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肆、 方案、架構與做法 ｜ 支柱三：資安韌性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車間 48～72h 離線自律與 NIST CSF 2.0 縱深防禦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【核心結論】研華工業邊緣 IPC 搭配本地 DuckDB 快取，實現海纜中斷自主運轉 72 小時；NIST 縱深防禦達成 0 勒索事故與秒級災備復原。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車間 48～72h 斷網離線自主生產機制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研華車間邊緣主機部署 K3s 與 DuckDB 快取，斷網時現場讀單、排產、計工與自動裁床正常運轉</a:t>
            </a:r>
            <a:br/>
            <a:r>
              <a:t>• 國際海纜或專線連線復原後，系統自動觸發 Delta 雙向增量同步，資料零遺失、現場零停工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NIST CSF 2.0 企業級縱深防禦閉環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Govern (數據主權合規) ｜ Identify (資產盤點/PQC) ｜ Protect (Entra ID 零信任/OT實體隔離)</a:t>
            </a:r>
            <a:br/>
            <a:r>
              <a:t>• Detect (CrowdStrike 24/7 MDR 全託管) ｜ Respond (15分鐘隔離) ｜ Recover (Zerto 秒級復原)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Tier-1 核心系統秒級災備 (BCP / DRP)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部署 Zerto CDP 秒級連續資料保護，達成核心資料庫 RPO &lt; 15 分鐘、系統恢復 RTO &lt; 2 小時</a:t>
            </a:r>
            <a:br/>
            <a:r>
              <a:t>• 配置 AWS S3 Glacier WORM 對象鎖定，實體防禦勒索軟體惡意竄改與資料銷毀，每年 2 次實彈演練</a:t>
            </a:r>
          </a:p>
        </p:txBody>
      </p:sp>
      <p:pic>
        <p:nvPicPr>
          <p:cNvPr id="14" name="Picture 13" descr="icon_13_resil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13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肆、 方案、架構與做法 ｜ 支柱四與五：流程與組織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Ready-to-Sew 4-Gate 產前門禁與 16～18 人架構師團隊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【核心結論】以 4-Gate 門禁徹底根除未齊套盲目投產；內部 16～18 人核心編制結合 Q2 駐廠敏捷突擊隊，發揮最高人力槓桿消弭推動阻力。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Ready-to-Sew 4-Gate 產前硬性門禁機制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Gate 1 款號 BOM 凍結 ➔ Gate 2 面輔料 100% 齊套 ➔ Gate 3 產前樣/樣衣封樣 ➔ Gate 4 產線人機校核</a:t>
            </a:r>
            <a:br/>
            <a:r>
              <a:t>• 系統硬性攔截：任一閘門未齊套系統強制鎖死發料，杜絕現場盲目投產與頻繁拆線返修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緊急特許放行權限標準作業 (Override SOP)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針對現場突發急件，特許放行權限嚴格鎖定為「海外總廠長 ＋ 周文津副總」線上雙簽核准</a:t>
            </a:r>
            <a:br/>
            <a:r>
              <a:t>• 系統自動標註為紅色風險工單，全程列管品質責任與返修工時歸屬，兼顧紀律與經營彈性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6532D"/>
                </a:solidFill>
                <a:latin typeface="PingFang TC"/>
              </a:defRPr>
            </a:pPr>
            <a:r>
              <a:t>內部 16～18 人精實編制 ＋ Q2 駐廠敏捷突擊隊</a:t>
            </a:r>
          </a:p>
          <a:p>
            <a:pPr>
              <a:defRPr sz="1100">
                <a:solidFill>
                  <a:srgbClr val="222222"/>
                </a:solidFill>
                <a:latin typeface="PingFang TC"/>
              </a:defRPr>
            </a:pPr>
            <a:r>
              <a:t>• 內部 5 大小組：雲端架構(3人)、身分資安(2人)、數據中台(3人)、營運流程(3人)、車間OT(5-7人)</a:t>
            </a:r>
            <a:br/>
            <a:r>
              <a:t>• 敏捷突擊隊：總部指派 1 位架構師 ＋ 1 位資深 IE 駐隆安示範廠 60 天並肩作戰，化解基層對立</a:t>
            </a:r>
          </a:p>
        </p:txBody>
      </p:sp>
      <p:pic>
        <p:nvPicPr>
          <p:cNvPr id="14" name="Picture 13" descr="icon_14_four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14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伍、 效益、限制與風險 ｜ AI 落地與效益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Agentic AI 落地實踐：釋放 15%～25% 工時與 1:20 高回報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【核心結論】在 ISO/IEC 42001 安全框架下，以 Portkey 專利遮罩與 RAG 貫通跨國工藝，為 400 核心幹部釋放 18% 工時，年創造 $90 萬美元效益 (ROI 1:20)。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UC-1 Tech Pack 多國語工藝 RAG 庫
</a:t>
            </a:r>
            <a:r>
              <a:rPr sz="1100">
                <a:solidFill>
                  <a:srgbClr val="222222"/>
                </a:solidFill>
              </a:rPr>
              <a:t>落地價值：做工手冊檢索提效 70%、跨語誤解拆工返修降 30%（P1 優先級 / 研發處長）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UC-2 PCD 提前 72h 缺料主動預警引擎
</a:t>
            </a:r>
            <a:r>
              <a:rPr sz="1100">
                <a:solidFill>
                  <a:srgbClr val="222222"/>
                </a:solidFill>
              </a:rPr>
              <a:t>落地價值：提早 72 小時告警缺料，消除物料等待停工，年防禦包機 NT$ 1,500 萬（P1 / 生管處長）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UC-3 IE 車縫線平衡動態模擬器
</a:t>
            </a:r>
            <a:r>
              <a:rPr sz="1100">
                <a:solidFill>
                  <a:srgbClr val="222222"/>
                </a:solidFill>
              </a:rPr>
              <a:t>落地價值：排線平衡率自 88% 提升至 95% 以上，大幅縮短換線調機停線時間（P2 / IE 總監）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UC-4 Agentic AI 生管跟單代理人
</a:t>
            </a:r>
            <a:r>
              <a:rPr sz="1100">
                <a:solidFill>
                  <a:srgbClr val="222222"/>
                </a:solidFill>
              </a:rPr>
              <a:t>落地價值：接管物料進度比對與催單，釋放 400 幹部 18% 工時，年化價值 $90 萬美元（P2 / 營業處長）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6532D"/>
                </a:solidFill>
              </a:rPr>
              <a:t>UC-5 RPA 進出口報關拋單機器人
</a:t>
            </a:r>
            <a:r>
              <a:rPr sz="1100">
                <a:solidFill>
                  <a:srgbClr val="222222"/>
                </a:solidFill>
              </a:rPr>
              <a:t>落地價值：跨國報關單證處理時間縮短 80%，自動檢核海關品名代碼，零人為失誤（P3 / 關務主管）</a:t>
            </a:r>
          </a:p>
        </p:txBody>
      </p:sp>
      <p:pic>
        <p:nvPicPr>
          <p:cNvPr id="18" name="Picture 17" descr="icon_15_ai_th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15 頁 / 共 20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伍、 效益、限制與風險 ｜ 資本情境與 FINOPS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三種投資情境對比與 FinOps 降本 8%～12%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【核心結論】強烈推薦「方案 A 全面躍升版（NT$ 2,016 萬）」，以極低單件成本 NT$ 0.27 與 FinOps 分層授權，換取 14.8 個月極速回本與海外數據合規。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8778240" cy="12344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E5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6532D"/>
                </a:solidFill>
              </a:rPr>
              <a:t>方案 A【推薦首選 · 集團全面躍升版】： </a:t>
            </a:r>
            <a:r>
              <a:rPr b="1" sz="1500">
                <a:solidFill>
                  <a:srgbClr val="E5B300"/>
                </a:solidFill>
              </a:rPr>
              <a:t>$640,000 USD (約 NT$ 2,016 萬)
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席位規模：覆蓋全集團 2,500 席（400 核心 ＋ 2,100 現場）</a:t>
            </a:r>
            <a:br/>
            <a:r>
              <a:t>• 預估回本：14.8 個月全額現金回本，單件成衣數位成本僅 NT$ 0.27</a:t>
            </a:r>
            <a:br/>
            <a:r>
              <a:t>• 策略效益：4 大基地全功能上線，完全符合東南亞法規與大品牌 IP 無菌室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6532D"/>
                </a:solidFill>
              </a:rPr>
              <a:t>方案 B【防禦備案 · 精實核心啟動版】： </a:t>
            </a:r>
            <a:r>
              <a:rPr b="1" sz="1500">
                <a:solidFill>
                  <a:srgbClr val="222222"/>
                </a:solidFill>
              </a:rPr>
              <a:t>$310,000 USD (約 NT$ 980 萬)
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席位規模：僅鎖定總部與越南主力廠 400 席核心知識工作者</a:t>
            </a:r>
            <a:br/>
            <a:r>
              <a:t>• 預估回本：22 個月回本；海外柬埔寨與印尼新廠延後導入</a:t>
            </a:r>
            <a:br/>
            <a:r>
              <a:t>• 潛在風險：海外海纜斷線風險依舊，無法達成集團級料號統一與 48h 離線自律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8778240" cy="123444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93208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6532D"/>
                </a:solidFill>
              </a:rPr>
              <a:t>方案 C【積極備案 · 全速擴張旗艦版】： </a:t>
            </a:r>
            <a:r>
              <a:rPr b="1" sz="1500">
                <a:solidFill>
                  <a:srgbClr val="222222"/>
                </a:solidFill>
              </a:rPr>
              <a:t>$920,000 USD (約 NT$ 2,898 萬)
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席位規模：覆蓋 3,500 席，擴充全自動化 AI 瑕疵布料視覺檢驗</a:t>
            </a:r>
            <a:br/>
            <a:r>
              <a:t>• 預估回本：18.5 個月回本；投入較大，需額外招聘外部演算法工程團隊</a:t>
            </a:r>
          </a:p>
        </p:txBody>
      </p:sp>
      <p:pic>
        <p:nvPicPr>
          <p:cNvPr id="14" name="Picture 13" descr="icon_16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16 頁 / 共 20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伍、 效益、限制與風險 ｜ 風險管理閉環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全集團 10 大系統性風險應對與控制閉環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【核心結論】海纜中斷、勒索病毒與專利外洩等關鍵風險，均配置「預防控制＋業務復原 (BCP)」雙重保險，全數將殘餘風險壓制至 Low 安全區間。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RSK-01 海纜中斷致停產  [衝擊等級：Critical]  ➔  殘餘：Low
</a:t>
            </a:r>
            <a:r>
              <a:rPr sz="1050">
                <a:solidFill>
                  <a:srgbClr val="222222"/>
                </a:solidFill>
              </a:rPr>
              <a:t>控制措施：預防：Fortinet 雙軌 SD-WAN ＋ 8台研華工業邊緣主機
應變：切換本地 DuckDB 快取，維持 48~72h 離線生產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RSK-02 勒索病毒加密資料  [衝擊等級：Critical]  ➔  殘餘：Low
</a:t>
            </a:r>
            <a:r>
              <a:rPr sz="1050">
                <a:solidFill>
                  <a:srgbClr val="222222"/>
                </a:solidFill>
              </a:rPr>
              <a:t>控制措施：預防：CrowdStrike 24/7 MDR 全託管 ＋ 全集團強制 MFA
應變：原廠專家 15 分鐘隔離 ＋ Zerto 秒級回復 ＋ S3 WORM 離線還原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RSK-03 客戶專利圖資外洩  [衝擊等級：Critical]  ➔  殘餘：Low
</a:t>
            </a:r>
            <a:r>
              <a:rPr sz="1050">
                <a:solidFill>
                  <a:srgbClr val="222222"/>
                </a:solidFill>
              </a:rPr>
              <a:t>控制措施：預防：Entra ID ABAC 屬性無菌室隔離 ＋ Portkey 專利自動遮罩
應變：立即註銷洩密憑證，完整 Audit Trail 留證對齊 ISO 27001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RSK-04 老廠長抵制 4-Gate  [衝擊等級：High]  ➔  殘餘：Low
</a:t>
            </a:r>
            <a:r>
              <a:rPr sz="1050">
                <a:solidFill>
                  <a:srgbClr val="222222"/>
                </a:solidFill>
              </a:rPr>
              <a:t>控制措施：預防：廠長＋周副總線上雙簽特許 SOP ＋ 駐廠 60 天突擊隊
應變：系統標記紅色風險工單追蹤責任，榮譽歸功現場廠長化解對立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6532D"/>
                </a:solidFill>
              </a:rPr>
              <a:t>RSK-05 原副料同料不同號  [衝擊等級：High]  ➔  殘餘：Low
</a:t>
            </a:r>
            <a:r>
              <a:rPr sz="1050">
                <a:solidFill>
                  <a:srgbClr val="222222"/>
                </a:solidFill>
              </a:rPr>
              <a:t>控制措施：預防：Profisee MDM 主數據去重 ＋ Great Expectations 門禁
應變：建立統一編碼字典，未經 MDM 審核禁止採購下單強制收斂</a:t>
            </a:r>
          </a:p>
        </p:txBody>
      </p:sp>
      <p:pic>
        <p:nvPicPr>
          <p:cNvPr id="18" name="Picture 17" descr="icon_17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17 頁 / 共 20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伍、 效益、限制與風險 ｜ CEO 計分卡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董事會級 CEO 關鍵績效指標儀表板 (13 項 KPI)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【核心結論】提供執行長按季審核之五大維度 13 項量化指標，所有 KPI 皆有明確公式、來源系統與未達標糾偏機制，確保投資效益百分之百落袋。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B6532D"/>
                </a:solidFill>
              </a:rPr>
              <a:t>商業價值維度
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數據來源系統與稽核依據：財務 ERP ＋ 採購總帳</a:t>
            </a:r>
          </a:p>
          <a:p>
            <a:pPr algn="r"/>
            <a:r>
              <a:rPr b="1" sz="1200">
                <a:solidFill>
                  <a:srgbClr val="E5B300"/>
                </a:solidFill>
              </a:rPr>
              <a:t>目標指標：每年硬性現金節省 NT$ 3,700 萬  |  回本期 14～16 個月  |  單件數位成本 (DCPG) NT$ 0.27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B6532D"/>
                </a:solidFill>
              </a:rPr>
              <a:t>營運效率維度
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數據來源系統與稽核依據：車間 MES 工序系統</a:t>
            </a:r>
          </a:p>
          <a:p>
            <a:pPr algn="r"/>
            <a:r>
              <a:rPr b="1" sz="1200">
                <a:solidFill>
                  <a:srgbClr val="E5B300"/>
                </a:solidFill>
              </a:rPr>
              <a:t>目標指標：換線首日達標率自 60.5% ➔ 85.0% (▲35%)  |  拆工返修率自 4.8% ➔ 2.4% (▼50%)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B6532D"/>
                </a:solidFill>
              </a:rPr>
              <a:t>交付品質維度
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數據來源系統與稽核依據：4-Gate 系統 ＋ WMS</a:t>
            </a:r>
          </a:p>
          <a:p>
            <a:pPr algn="r"/>
            <a:r>
              <a:rPr b="1" sz="1200">
                <a:solidFill>
                  <a:srgbClr val="E5B300"/>
                </a:solidFill>
              </a:rPr>
              <a:t>目標指標：產前 4-Gate 門禁放行率 100% (硬鎖)  |  集團準時交貨率 (OTD) 達 98.5% 以上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877824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B6532D"/>
                </a:solidFill>
              </a:rPr>
              <a:t>資安韌性維度
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數據來源系統與稽核依據：邊緣 IPC Log ＋ MDR</a:t>
            </a:r>
          </a:p>
          <a:p>
            <a:pPr algn="r"/>
            <a:r>
              <a:rPr b="1" sz="1200">
                <a:solidFill>
                  <a:srgbClr val="E5B300"/>
                </a:solidFill>
              </a:rPr>
              <a:t>目標指標：海外廠斷網離線自主運轉 48～72 小時  |  Tier-1 災備 RPO&lt;15m / RTO&lt;2h  |  重大勒索事故 0 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8778240" cy="73152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8412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B6532D"/>
                </a:solidFill>
              </a:rPr>
              <a:t>財務與治理維度
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數據來源系統與稽核依據：品牌稽核表 ＋ 財報</a:t>
            </a:r>
          </a:p>
          <a:p>
            <a:pPr algn="r"/>
            <a:r>
              <a:rPr b="1" sz="1200">
                <a:solidFill>
                  <a:srgbClr val="E5B300"/>
                </a:solidFill>
              </a:rPr>
              <a:t>目標指標：國際品牌資安驗廠 100% 零缺失通過  |  可控 IT 維運成本降幅 8%～12% (FinOps 分層)</a:t>
            </a:r>
          </a:p>
        </p:txBody>
      </p:sp>
      <p:pic>
        <p:nvPicPr>
          <p:cNvPr id="18" name="Picture 17" descr="icon_18_score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18 頁 / 共 20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陸、 結論與後續行動 ｜ 路線圖與推進計畫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四季平準化路線圖與 30/60/90 天落地計畫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【核心結論】排程嚴格排開春節、越南 Tet 封網與印尼開齋節，四季平準化推進；啟動前 90 天完成現況普查、總部雙活與隆安門禁示範。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8778240" cy="91440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Q1 總部築底期 (1~3月 · 排除2月春節封網)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總部雙活 Kong 網關進場 ＋ Entra ID SSO ＋ CrowdStrike 24/7 MDR ＋ Zerto 秒級災備</a:t>
            </a:r>
            <a:br/>
            <a:r>
              <a:t>• 2/5～2/14 春節與越南 Tet 停工 10 天實施系統封網 (Code Freeze)；3 月底完成 4 週技術普查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877824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Q2 隆安示範期 (4~6月 · 避開柬新年與五一)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Ready-to-Sew 4-Gate 產前門禁實體投產 ＋ 車間 72h 離線自律實測 ＋ Flink 提前 72h 缺料預警</a:t>
            </a:r>
            <a:br/>
            <a:r>
              <a:t>• 總部指派架構師與資深 IE 駐廠 60 天；6 月底 CEO 現場視察示範廠驗收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8778240" cy="91440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Q3 柬印複製期 (7~9月 · 全球製造黃金期)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7～8 月全球製造黃金期全力衝刺：金邊 48h 離線邊緣 ＋ 中爪哇溫壓 IoT ＋ Databricks 30TB 湖倉中台</a:t>
            </a:r>
            <a:br/>
            <a:r>
              <a:t>• Profisee MDM 主數據全集團貫通，徹底消除同料不同號；啟動微軟 EA 合約整併談判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877824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6532D"/>
                </a:solidFill>
                <a:latin typeface="PingFang TC"/>
              </a:defRPr>
            </a:pPr>
            <a:r>
              <a:t>Q4 集團收官期 (10~12月 · 全面智能投產)</a:t>
            </a:r>
          </a:p>
          <a:p>
            <a:pPr>
              <a:defRPr sz="1050">
                <a:solidFill>
                  <a:srgbClr val="222222"/>
                </a:solidFill>
                <a:latin typeface="PingFang TC"/>
              </a:defRPr>
            </a:pPr>
            <a:r>
              <a:t>• Agentic AI 生管跟單代理人 ＋ OR-Tools 線平衡人機排程 ＋ 2,500 席 24/7 MDR 資安實彈演練</a:t>
            </a:r>
            <a:br/>
            <a:r>
              <a:t>• 25 項專案 100% 交付上線，財務認列年省現金流 NT$ 3,700 萬，圓滿結案</a:t>
            </a:r>
          </a:p>
        </p:txBody>
      </p:sp>
      <p:pic>
        <p:nvPicPr>
          <p:cNvPr id="16" name="Picture 15" descr="icon_19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19 頁 / 共 20 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B6532D"/>
                </a:solidFill>
                <a:latin typeface="PingFang TC"/>
              </a:defRPr>
            </a:pPr>
            <a:r>
              <a:t>陸、 結論與後續行動 ｜ 執行長決策請求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87524"/>
                </a:solidFill>
                <a:latin typeface="PingFang TC"/>
              </a:defRPr>
            </a:pPr>
            <a:r>
              <a:t>執行長（CEO）五大決策審批與啟動簽核</a:t>
            </a:r>
          </a:p>
        </p:txBody>
      </p:sp>
      <p:pic>
        <p:nvPicPr>
          <p:cNvPr id="5" name="Picture 4" descr="divider_egyp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33856"/>
            <a:ext cx="7772400" cy="109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877824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PingFang TC"/>
              </a:defRPr>
            </a:pPr>
            <a:r>
              <a:t>【核心結論】投資計畫完備、數據扎實、回本明確；建請執行長今日正式核定五大決策事項，全面啟動信源全球 2027 數位躍升戰略。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5303520" cy="4114800"/>
          </a:xfrm>
          <a:prstGeom prst="roundRect">
            <a:avLst/>
          </a:prstGeom>
          <a:solidFill>
            <a:srgbClr val="FBE8D7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6532D"/>
                </a:solidFill>
                <a:latin typeface="PingFang TC"/>
              </a:defRPr>
            </a:pPr>
            <a:r>
              <a:t>建請執行長（CEO）核定之五大決策清單</a:t>
            </a:r>
          </a:p>
          <a:p>
            <a:pPr>
              <a:spcAft>
                <a:spcPts val="600"/>
              </a:spcAft>
              <a:defRPr sz="1100">
                <a:solidFill>
                  <a:srgbClr val="222222"/>
                </a:solidFill>
                <a:latin typeface="PingFang TC"/>
              </a:defRPr>
            </a:pPr>
            <a:r>
              <a:t>1. [策略方向] 核准「整合運用・智能營運」總體 IT 願景與五大支柱實施路徑。</a:t>
            </a:r>
          </a:p>
          <a:p>
            <a:pPr>
              <a:spcAft>
                <a:spcPts val="600"/>
              </a:spcAft>
              <a:defRPr sz="1100">
                <a:solidFill>
                  <a:srgbClr val="222222"/>
                </a:solidFill>
                <a:latin typeface="PingFang TC"/>
              </a:defRPr>
            </a:pPr>
            <a:r>
              <a:t>2. [資本預算] 核准方案 A 全面躍升版總預算 $640k USD（約 NT$ 2,016 萬）。</a:t>
            </a:r>
          </a:p>
          <a:p>
            <a:pPr>
              <a:spcAft>
                <a:spcPts val="600"/>
              </a:spcAft>
              <a:defRPr sz="1100">
                <a:solidFill>
                  <a:srgbClr val="222222"/>
                </a:solidFill>
                <a:latin typeface="PingFang TC"/>
              </a:defRPr>
            </a:pPr>
            <a:r>
              <a:t>3. [業務負責人] 責成生產、採購、業務各副總共同掛帥，扛起各專案成敗責任。</a:t>
            </a:r>
          </a:p>
          <a:p>
            <a:pPr>
              <a:spcAft>
                <a:spcPts val="600"/>
              </a:spcAft>
              <a:defRPr sz="1100">
                <a:solidFill>
                  <a:srgbClr val="222222"/>
                </a:solidFill>
                <a:latin typeface="PingFang TC"/>
              </a:defRPr>
            </a:pPr>
            <a:r>
              <a:t>4. [4-Gate 特許權] 核定緊急放行權限鎖定為「海外總廠長 ＋ 周文津副總」線上雙簽。</a:t>
            </a:r>
          </a:p>
          <a:p>
            <a:pPr>
              <a:spcAft>
                <a:spcPts val="600"/>
              </a:spcAft>
              <a:defRPr sz="1100">
                <a:solidFill>
                  <a:srgbClr val="222222"/>
                </a:solidFill>
                <a:latin typeface="PingFang TC"/>
              </a:defRPr>
            </a:pPr>
            <a:r>
              <a:t>5. [盤點行政公文] 同意由執行長與周文津副總聯名簽發《集團技術資產盤點公文》。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3291840" cy="4114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B6532D"/>
                </a:solidFill>
                <a:latin typeface="PingFang TC"/>
              </a:defRPr>
            </a:pPr>
            <a:r>
              <a:t>財務承諾與決策簽核</a:t>
            </a:r>
          </a:p>
          <a:p>
            <a:pPr algn="r">
              <a:spcAft>
                <a:spcPts val="400"/>
              </a:spcAft>
            </a:pPr>
            <a:r>
              <a:rPr sz="1050">
                <a:solidFill>
                  <a:srgbClr val="666666"/>
                </a:solidFill>
              </a:rPr>
              <a:t>預估現金回本期： </a:t>
            </a:r>
            <a:r>
              <a:rPr b="1" sz="1300">
                <a:solidFill>
                  <a:srgbClr val="E5B300"/>
                </a:solidFill>
              </a:rPr>
              <a:t>14 ～ 16 個月
</a:t>
            </a:r>
          </a:p>
          <a:p>
            <a:pPr algn="r">
              <a:spcAft>
                <a:spcPts val="400"/>
              </a:spcAft>
            </a:pPr>
            <a:r>
              <a:rPr sz="1050">
                <a:solidFill>
                  <a:srgbClr val="666666"/>
                </a:solidFill>
              </a:rPr>
              <a:t>年硬性現金節省： </a:t>
            </a:r>
            <a:r>
              <a:rPr b="1" sz="1300">
                <a:solidFill>
                  <a:srgbClr val="E5B300"/>
                </a:solidFill>
              </a:rPr>
              <a:t>NT$ 3,700 萬
</a:t>
            </a:r>
          </a:p>
          <a:p>
            <a:pPr algn="r">
              <a:spcAft>
                <a:spcPts val="400"/>
              </a:spcAft>
            </a:pPr>
            <a:r>
              <a:rPr sz="1050">
                <a:solidFill>
                  <a:srgbClr val="666666"/>
                </a:solidFill>
              </a:rPr>
              <a:t>單件成衣數位成本： </a:t>
            </a:r>
            <a:r>
              <a:rPr b="1" sz="1300">
                <a:solidFill>
                  <a:srgbClr val="E5B300"/>
                </a:solidFill>
              </a:rPr>
              <a:t>NT$ 0.27 / 件
</a:t>
            </a:r>
          </a:p>
          <a:p>
            <a:pPr algn="r">
              <a:spcAft>
                <a:spcPts val="400"/>
              </a:spcAft>
            </a:pPr>
            <a:r>
              <a:rPr sz="1050">
                <a:solidFill>
                  <a:srgbClr val="666666"/>
                </a:solidFill>
              </a:rPr>
              <a:t>海外廠離線自主時長： </a:t>
            </a:r>
            <a:r>
              <a:rPr b="1" sz="1300">
                <a:solidFill>
                  <a:srgbClr val="E5B300"/>
                </a:solidFill>
              </a:rPr>
              <a:t>48 ～ 72 小時
</a:t>
            </a:r>
          </a:p>
          <a:p>
            <a:pPr algn="r">
              <a:spcAft>
                <a:spcPts val="400"/>
              </a:spcAft>
            </a:pPr>
            <a:r>
              <a:rPr sz="1050">
                <a:solidFill>
                  <a:srgbClr val="666666"/>
                </a:solidFill>
              </a:rPr>
              <a:t>重大勒索資安事故： </a:t>
            </a:r>
            <a:r>
              <a:rPr b="1" sz="1300">
                <a:solidFill>
                  <a:srgbClr val="E5B300"/>
                </a:solidFill>
              </a:rPr>
              <a:t>0 件 (Zero Breach)
</a:t>
            </a:r>
          </a:p>
          <a:p>
            <a:pPr>
              <a:defRPr sz="1100" b="1">
                <a:solidFill>
                  <a:srgbClr val="222222"/>
                </a:solidFill>
              </a:defRPr>
            </a:pPr>
            <a:r>
              <a:t>執行長簽核：____________________</a:t>
            </a:r>
            <a:br/>
            <a:r>
              <a:t>日期：2027 年 ____ 月 ____ 日</a:t>
            </a:r>
          </a:p>
        </p:txBody>
      </p:sp>
      <p:pic>
        <p:nvPicPr>
          <p:cNvPr id="12" name="Picture 11" descr="icon_20_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56032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510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 b="1">
                <a:solidFill>
                  <a:srgbClr val="666666"/>
                </a:solidFill>
                <a:latin typeface="PingFang TC"/>
              </a:defRPr>
            </a:pPr>
            <a:r>
              <a:t>第 20 頁 / 共 20 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47395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66666"/>
                </a:solidFill>
                <a:latin typeface="PingFang TC"/>
              </a:defRPr>
            </a:pPr>
            <a:r>
              <a:t>信源全球（RSI）2027 IT 策略藍圖 ｜ 計劃主持人：周文津 副總 ｜ 執行負責人：Howard Liao Ph.D.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