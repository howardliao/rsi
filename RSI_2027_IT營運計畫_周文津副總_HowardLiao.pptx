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3dad590a-4c3f-4bb9-5746-8d2cad618f52}">
          <p14:sldIdLst>
            <p14:sldId id="256"/>
            <p14:sldId id="257"/>
            <p14:sldId id="258"/>
          </p14:sldIdLst>
        </p14:section>
        <p14:section name="01 戰略定位" id="{285f23ed-faa0-6a59-abac-521fcf2c9fab}">
          <p14:sldIdLst>
            <p14:sldId id="259"/>
            <p14:sldId id="260"/>
            <p14:sldId id="261"/>
            <p14:sldId id="262"/>
          </p14:sldIdLst>
        </p14:section>
        <p14:section name="02 投資與回報" id="{b77f66d8-2fe5-db0f-0654-a236ce7b71ce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03 架構藍圖" id="{a8f5d099-1bfd-26b6-dd64-bc856cf3d952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04 現場落地" id="{9117a07d-04fb-41e2-5dd2-1d1f55f4c3f3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05 執行治理" id="{1684ba2f-71c5-cb32-6252-301c965f5bf5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單點硬體設備採購</c:v>
                </c:pt>
              </c:strCache>
            </c:strRef>
          </c:tx>
          <c:spPr>
            <a:solidFill>
              <a:srgbClr val="C9C3B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 奠基期</c:v>
                  </c:pt>
                  <c:pt idx="1">
                    <c:v>2026 完善期</c:v>
                  </c:pt>
                  <c:pt idx="2">
                    <c:v>2027 智能期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25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流程與 MES 整合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 奠基期</c:v>
                  </c:pt>
                  <c:pt idx="1">
                    <c:v>2026 完善期</c:v>
                  </c:pt>
                  <c:pt idx="2">
                    <c:v>2027 智能期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</c:v>
                </c:pt>
                <c:pt idx="1">
                  <c:v>45</c:v>
                </c:pt>
                <c:pt idx="2">
                  <c:v>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數據治理與 API 底座</c:v>
                </c:pt>
              </c:strCache>
            </c:strRef>
          </c:tx>
          <c:spPr>
            <a:solidFill>
              <a:srgbClr val="DE581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 奠基期</c:v>
                  </c:pt>
                  <c:pt idx="1">
                    <c:v>2026 完善期</c:v>
                  </c:pt>
                  <c:pt idx="2">
                    <c:v>2027 智能期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</c:v>
                </c:pt>
                <c:pt idx="1">
                  <c:v>20</c:v>
                </c:pt>
                <c:pt idx="2">
                  <c:v>32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智能決策與 AI 協同</c:v>
                </c:pt>
              </c:strCache>
            </c:strRef>
          </c:tx>
          <c:spPr>
            <a:solidFill>
              <a:srgbClr val="A8321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 奠基期</c:v>
                  </c:pt>
                  <c:pt idx="1">
                    <c:v>2026 完善期</c:v>
                  </c:pt>
                  <c:pt idx="2">
                    <c:v>2027 智能期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</c:v>
                </c:pt>
                <c:pt idx="1">
                  <c:v>10</c:v>
                </c:pt>
                <c:pt idx="2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9E4D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D374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預算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A7268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A8321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Run 維運穩固</c:v>
                </c:pt>
                <c:pt idx="1">
                  <c:v>Grow 業務增長</c:v>
                </c:pt>
                <c:pt idx="2">
                  <c:v>Transform 創新躍升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352000</c:v>
                </c:pt>
                <c:pt idx="1">
                  <c:v>160000</c:v>
                </c:pt>
                <c:pt idx="2">
                  <c:v>128000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現況基準</c:v>
                </c:pt>
              </c:strCache>
            </c:strRef>
          </c:tx>
          <c:spPr>
            <a:solidFill>
              <a:srgbClr val="B8B0A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374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準時交貨率 OTD</c:v>
                  </c:pt>
                  <c:pt idx="1">
                    <c:v>換線工時損失率</c:v>
                  </c:pt>
                  <c:pt idx="2">
                    <c:v>布料損耗率</c:v>
                  </c:pt>
                  <c:pt idx="3">
                    <c:v>產前異常事前攔截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88.5</c:v>
                </c:pt>
                <c:pt idx="1">
                  <c:v>28</c:v>
                </c:pt>
                <c:pt idx="2">
                  <c:v>5.8</c:v>
                </c:pt>
                <c:pt idx="3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 目標預期</c:v>
                </c:pt>
              </c:strCache>
            </c:strRef>
          </c:tx>
          <c:spPr>
            <a:solidFill>
              <a:srgbClr val="A8321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374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準時交貨率 OTD</c:v>
                  </c:pt>
                  <c:pt idx="1">
                    <c:v>換線工時損失率</c:v>
                  </c:pt>
                  <c:pt idx="2">
                    <c:v>布料損耗率</c:v>
                  </c:pt>
                  <c:pt idx="3">
                    <c:v>產前異常事前攔截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98.2</c:v>
                </c:pt>
                <c:pt idx="1">
                  <c:v>10.5</c:v>
                </c:pt>
                <c:pt idx="2">
                  <c:v>4.1</c:v>
                </c:pt>
                <c:pt idx="3">
                  <c:v>94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D374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9E4D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D374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權重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7706"/>
              </a:solidFill>
              <a:effectLst/>
            </c:spPr>
          </c:dPt>
          <c:dPt>
            <c:idx val="1"/>
            <c:bubble3D val="0"/>
            <c:spPr>
              <a:solidFill>
                <a:srgbClr val="DE5814"/>
              </a:solidFill>
              <a:effectLst/>
            </c:spPr>
          </c:dPt>
          <c:dPt>
            <c:idx val="2"/>
            <c:bubble3D val="0"/>
            <c:spPr>
              <a:solidFill>
                <a:srgbClr val="A8321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規則型預警</c:v>
                </c:pt>
                <c:pt idx="1">
                  <c:v>成衣工藝 RAG 助手</c:v>
                </c:pt>
                <c:pt idx="2">
                  <c:v>IE／生管 Copilot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基礎現況</c:v>
                </c:pt>
              </c:strCache>
            </c:strRef>
          </c:tx>
          <c:spPr>
            <a:solidFill>
              <a:srgbClr val="9AA0A8"/>
            </a:solidFill>
            <a:ln w="25400" cap="flat">
              <a:solidFill>
                <a:srgbClr val="9AA0A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9AA0A8"/>
              </a:solidFill>
              <a:ln w="9525" cap="flat">
                <a:solidFill>
                  <a:srgbClr val="9AA0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API &amp; 治理</c:v>
                  </c:pt>
                  <c:pt idx="1">
                    <c:v>端到端履約</c:v>
                  </c:pt>
                  <c:pt idx="2">
                    <c:v>物料閉環</c:v>
                  </c:pt>
                  <c:pt idx="3">
                    <c:v>主動異常辨識</c:v>
                  </c:pt>
                  <c:pt idx="4">
                    <c:v>IE 模擬優化</c:v>
                  </c:pt>
                  <c:pt idx="5">
                    <c:v>邊緣離線自治</c:v>
                  </c:pt>
                  <c:pt idx="6">
                    <c:v>自動設備整合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50</c:v>
                </c:pt>
                <c:pt idx="2">
                  <c:v>45</c:v>
                </c:pt>
                <c:pt idx="3">
                  <c:v>30</c:v>
                </c:pt>
                <c:pt idx="4">
                  <c:v>35</c:v>
                </c:pt>
                <c:pt idx="5">
                  <c:v>40</c:v>
                </c:pt>
                <c:pt idx="6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 整合目標</c:v>
                </c:pt>
              </c:strCache>
            </c:strRef>
          </c:tx>
          <c:spPr>
            <a:solidFill>
              <a:srgbClr val="A83212"/>
            </a:solidFill>
            <a:ln w="25400" cap="flat">
              <a:solidFill>
                <a:srgbClr val="A83212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A83212"/>
              </a:solidFill>
              <a:ln w="9525" cap="flat">
                <a:solidFill>
                  <a:srgbClr val="A832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API &amp; 治理</c:v>
                  </c:pt>
                  <c:pt idx="1">
                    <c:v>端到端履約</c:v>
                  </c:pt>
                  <c:pt idx="2">
                    <c:v>物料閉環</c:v>
                  </c:pt>
                  <c:pt idx="3">
                    <c:v>主動異常辨識</c:v>
                  </c:pt>
                  <c:pt idx="4">
                    <c:v>IE 模擬優化</c:v>
                  </c:pt>
                  <c:pt idx="5">
                    <c:v>邊緣離線自治</c:v>
                  </c:pt>
                  <c:pt idx="6">
                    <c:v>自動設備整合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95</c:v>
                </c:pt>
                <c:pt idx="1">
                  <c:v>92</c:v>
                </c:pt>
                <c:pt idx="2">
                  <c:v>90</c:v>
                </c:pt>
                <c:pt idx="3">
                  <c:v>88</c:v>
                </c:pt>
                <c:pt idx="4">
                  <c:v>85</c:v>
                </c:pt>
                <c:pt idx="5">
                  <c:v>95</c:v>
                </c:pt>
                <c:pt idx="6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DD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D374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周副總好，今天向您報告 2027 年 IT 營運計畫架構。重點不是增加更多單點系統，而是讓既有資訊能力形成跨流程、跨廠區、跨系統的實質營運效益。最後會有幾項需要您裁示的決策事項。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先講結論：投資約二千萬級，每年可產生約 3,700 萬硬性現金節省。今天需要副總裁示四件事，最後一頁會再完整列出。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三年演進界線清楚：2025 把系統建起來，2026 把流程補完整，2027 收斂到數據治理與智能代理。2026 仍有部分未竟事宜，會在 2027 一併補齊。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這張圖說明預算的質變：2027 年 60% 的資源投入在數據治理、API 底座與智能決策，單點硬體採購降到 12%。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匯率以 31.5 計。這筆是 Pillar I 數位底座的基準年預算。用每件成衣攤提來看，不到三毛錢。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硬性節省有兩塊：一是避免空運包機違約，每年防禦兩次約 1,500 萬；二是布料利用率提升 1.2%，約 2,205 萬。網站互動試算器可拖曳調整這兩個變數。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換線工時損失率與布料損耗率是越低越好；OTD 與事前攔截是越高越好。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建議方案 A。若董事會希望降低首年支出，方案 B 先打通總部與隆安旗艦廠，柬印次年複製，但品牌稽核覆蓋與節省效益會延後。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這頁是我在整理時發現的口徑差異，建議在送董事會前先統一，避免被財務單位質疑。數字皆以網站上的 WBS 預算與匯率 31.5 推算。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不一次到位，而是先做 45% 的規則型 Quick-Win，再做知識庫，最後才是 Copilot。同時要保護品牌客戶的版型資產。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網站上有一鍵模擬海纜中斷的演練功能，建議會中現場示範。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4-Gate 的關鍵是剛性但不僵化：副總是特許放行的雙簽人之一，這是今天請副總授權的事項。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這是網站上的互動演算器，會中可以拖曳技能與齊套率，即時看到線平衡率與日產能變化。P3-4 的 OR-Tools 目標是把平衡率推到 95% 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法規條文與適用範圍建議請法務再確認。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內部不養龐大底層編程人員，專注業務邏輯與治理；開發火力在高峰期向外借，避免長期人事沉沒成本。另有 RACI 矩陣界定高管、內部 IT、外部 SI 與海外廠長的權責。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RSI 信源全球 · 2027 IT 營運計畫架構｜Howard Liao Ph.D.｜機密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RSI 信源全球 · 2027 IT 營運計畫架構｜Howard Liao Ph.D.｜機密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BE9E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RSI 信源全球 · 2027 IT 營運計畫架構｜Howard Liao Ph.D.｜機密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RSI 信源全球 · 2027 數位躍升戰略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2027 IT 營運計畫架構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3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整合運用・智能營運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從「單點建置」躍升為數據治理、邊緣韌性、AI 協同與智慧決策的跨國營運藍圖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10972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報告對象　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周文津 副總經理（Executive Sponsor）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617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報告人　　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Howard Liao Ph.D.（Lead Architect &amp; Advisor）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2026 年 10 月｜高階決策簡報｜機密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60920" y="1097280"/>
            <a:ext cx="4297680" cy="42976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0" y="4800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0" descr="Howard Liao Ph.D. 大頭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56" y="1271016"/>
            <a:ext cx="3950208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EXECUTIVE SUMMARY｜結論先行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以二千萬級投資，換取每年 NT$3,700 萬硬性現金節省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0"/>
          </a:xfrm>
          <a:prstGeom prst="line">
            <a:avLst/>
          </a:prstGeom>
          <a:noFill/>
          <a:ln w="9525">
            <a:solidFill>
              <a:srgbClr val="F3C7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7,500 萬件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集團年出貨量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跨國精準履約交付防禦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0824" y="1783080"/>
            <a:ext cx="2567864" cy="0"/>
          </a:xfrm>
          <a:prstGeom prst="line">
            <a:avLst/>
          </a:prstGeom>
          <a:noFill/>
          <a:ln w="9525">
            <a:solidFill>
              <a:srgbClr val="F3C7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90824" y="192024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NT$3,705 萬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90824" y="26517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年硬性現金節省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90824" y="301752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防禦包機 ＋ 布料降損 1.2%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1783080"/>
            <a:ext cx="2567864" cy="0"/>
          </a:xfrm>
          <a:prstGeom prst="line">
            <a:avLst/>
          </a:prstGeom>
          <a:noFill/>
          <a:ln w="9525">
            <a:solidFill>
              <a:srgbClr val="F3C7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3008" y="192024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14.8 個月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6517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投資回本週期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3008" y="301752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單件成衣數位成本約 NT$0.27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5191" y="1783080"/>
            <a:ext cx="2567864" cy="0"/>
          </a:xfrm>
          <a:prstGeom prst="line">
            <a:avLst/>
          </a:prstGeom>
          <a:noFill/>
          <a:ln w="9525">
            <a:solidFill>
              <a:srgbClr val="F3C7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75191" y="192024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48～72 小時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075191" y="26517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車間斷網離線自律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75191" y="301752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海纜中斷仍持續生產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今天請副總裁示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434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343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核定預算方案：A 集團全面躍升版（建議）或 B 精實核心啟動版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43434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343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發布盤點公文，啟動 4 週職能與設備盤點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206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120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授權 4-Gate「廠長＋副總」雙簽特許放行機制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51206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5120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同意 Q2 派駐隆安燈塔廠的駐廠突擊隊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BE9E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報告架構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28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戰略定位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8288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三年演進、資源重心轉移、四大投資主軸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697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投資與回報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6974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R-G-T 預算、硬性財務對沖、KPI 目標、A/B 方案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661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566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架構藍圖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56616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四大主架構 25 項子領域、層級價值鏈、AI 三階梯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348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現場落地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43484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邊緣韌性、4-Gate 產前門禁、IE 線平衡、法規與 ESG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035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執行治理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530352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WBS 季度路線、組織資源、盤點 SOP、決策事項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603504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戰略定位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2027 的重點，是讓既有資訊能力形成跨流程、跨廠區、跨系統的實質效益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　戰略定位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2025～2027：建系統 → 補流程 → 整合與智能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4434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Phase 1 · Foundation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系統建置與基礎完善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1188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逐步建立生產、研發、品管、IE、倉儲、BI、RPA、IoT、自動化與資安等基礎能力，奠定數位化營運硬底層。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898" y="374904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38218" y="1691640"/>
            <a:ext cx="3515258" cy="4434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58258" y="192024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Phase 2 · Connectivity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658258" y="22402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4658258" y="3108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流程完善與資訊即時化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58258" y="361188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補齊跨系統與跨作業斷點，強化 MES 工序架構、行動化、即時收集、用料全流程、BPM、BI、ML／RAG 與智能設備整合。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658258" y="525780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chemeClr val="accent1"/>
                </a:solidFill>
              </a:rPr>
              <a:t>未竟事宜：部分端到端流程、全用料閉環與進階 AI 研究仍需加強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477" y="3749040"/>
            <a:ext cx="274320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127797" y="1691640"/>
            <a:ext cx="3515258" cy="4434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447837" y="192024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Phase 3 · Intelligence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447837" y="22402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4400" dirty="0"/>
          </a:p>
        </p:txBody>
      </p:sp>
      <p:sp>
        <p:nvSpPr>
          <p:cNvPr id="20" name="Text 16"/>
          <p:cNvSpPr txBox="1"/>
          <p:nvPr/>
        </p:nvSpPr>
        <p:spPr>
          <a:xfrm>
            <a:off x="8447837" y="3108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整合運用與智能營運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8447837" y="361188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以數據治理、邊緣韌性與 Agentic AI，讓系統、流程、資料與設備在共同架構下真正整合，支援即時決策。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　戰略定位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資源重心：由單點採購移轉至數據整合與智能決策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83080"/>
            <a:ext cx="377647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▼ 33 pt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514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單點硬體採購佔比：45% → 12%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63840" y="3154680"/>
            <a:ext cx="377647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3291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 17 pt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886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數據治理與 API 底座：15% → 32%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63840" y="4526280"/>
            <a:ext cx="377647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4663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 23 pt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5257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智能決策與 AI 協同：5% → 28%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5852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資料：RSI 2027 IT 營運計畫架構網站（戰略數據與動態圖表）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　戰略定位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2027 四大投資主軸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0048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93392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營運韌性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359152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Operational Resilience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78892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建立東南亞跨國邊緣離線自治與零信任縱深防禦，Tier-1 生產核心具備不可篡改備份與可稽核復原力。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3008" y="1691640"/>
            <a:ext cx="5410048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553048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38" y="216027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0288" y="1993392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AI 規模化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330288" y="2359152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AI at Scale &amp; Agentic AI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553048" y="278892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Agentic AI 貫通客服、營運生管、做工規範知識庫（RAG）與工程 IE，把被動查詢升級為主動協同。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4297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44627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4279392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資料可信任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4645152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Data Trustworthiness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507492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建立單一真實資料來源（SSOT），統一 MDM 主數據定義，嚴謹存取控制與資料生命週期稽核。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33008" y="3977640"/>
            <a:ext cx="5410048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6553048" y="4297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638" y="4446270"/>
            <a:ext cx="297180" cy="2971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30288" y="4279392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成本可控化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7330288" y="4645152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Cost Governance &amp; FinOps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6553048" y="507492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落實雲端與基礎設施 FinOps、整併軟體授權與架構現代化，把維運開銷轉為成長與創新資本。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投資與回報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以 Gartner Run-Grow-Transform 配置資本，並以硬性現金節省回收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　投資與回報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數位底座基準預算：US$640,000（約 NT$2,016 萬）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73736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US$640k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212080" y="1691640"/>
            <a:ext cx="642823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21208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A72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8105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 維運穩固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US$352,000｜約 NT$1,109 萬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1945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保障生產零中斷、CrowdStrike 24/7 MDR 全託管、Zerto 秒級災備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12080" y="2898648"/>
            <a:ext cx="642823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30358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Grow 業務擴展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3035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US$160,000｜約 NT$504 萬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34015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支援柬／印新廠交鑰匙複製、Databricks 30TB+ 湖倉與 MDM 擴展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212080" y="4105656"/>
            <a:ext cx="642823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12080" y="424281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83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4224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Transform 智能轉型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778240" y="42428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US$128,000｜約 NT$403 萬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60857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Agentic AI 落地、多語言技術手冊編譯與動態排線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12080" y="5394960"/>
            <a:ext cx="6428232" cy="7315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40680" y="53949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單件成衣數位成本 DCPG　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US$640,000 ÷ 7,500 萬件 ≈ US$0.0085／件（約 NT$0.27，不到三毛錢）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　投資與回報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硬性財務對沖：每年 NT$3,705 萬現金節省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3431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39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空運包機違約對沖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每年成功防禦 2 次海外空運包機延遲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NT$1,500 萬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約 US$476k／年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520440"/>
            <a:ext cx="676656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4023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417195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91640" y="3867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大貨布料利用率 +1.2%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691640" y="4297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MDM ＋ CAD 排產提升版型馬克利用率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0" y="3794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NT$2,205 萬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約 US$700k／年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5349240"/>
            <a:ext cx="6766560" cy="777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68680" y="5349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年總節省現金流（Hard Dollar）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389120" y="5349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NT$3,705 萬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7680960" y="1691640"/>
            <a:ext cx="3959352" cy="4434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00100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全額淨投資回收期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8001000" y="23774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14.8</a:t>
            </a:r>
            <a:endParaRPr lang="en-US" sz="7200" dirty="0"/>
          </a:p>
        </p:txBody>
      </p:sp>
      <p:sp>
        <p:nvSpPr>
          <p:cNvPr id="24" name="Text 20"/>
          <p:cNvSpPr txBox="1"/>
          <p:nvPr/>
        </p:nvSpPr>
        <p:spPr>
          <a:xfrm>
            <a:off x="800100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個月（網站另載 14～16 個月）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001000" y="4114800"/>
            <a:ext cx="3291840" cy="0"/>
          </a:xfrm>
          <a:prstGeom prst="line">
            <a:avLst/>
          </a:prstGeom>
          <a:noFill/>
          <a:ln w="9525">
            <a:solidFill>
              <a:srgbClr val="F3C7B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001000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整體 ROI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001000" y="46634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3.84</a:t>
            </a:r>
            <a:endParaRPr lang="en-US" sz="3600" dirty="0"/>
          </a:p>
        </p:txBody>
      </p:sp>
      <p:sp>
        <p:nvSpPr>
          <p:cNvPr id="28" name="Text 24"/>
          <p:cNvSpPr txBox="1"/>
          <p:nvPr/>
        </p:nvSpPr>
        <p:spPr>
          <a:xfrm>
            <a:off x="8001000" y="5532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回收期與 ROI 口徑見第 14 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　投資與回報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三大核心財務與效能承諾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4434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▼ 8%～12%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204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可控 IT 維運成本降幅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6908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FinOps 雲端執行個體優化、閒置資源釋放、重複授權整併與架構現代化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8218" y="1691640"/>
            <a:ext cx="3515258" cy="443484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58258" y="201168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 15%～25%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35204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特定核心流程工時釋放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406908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Agentic AI 導入客服、生管追蹤、做工規範知識庫（RAG）與工程 IE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7797" y="1691640"/>
            <a:ext cx="3515258" cy="4434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47837" y="201168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RPO&lt;15m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RTO&lt;2h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447837" y="35204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Tier-1 災難復原與資安合規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47837" y="406908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核心生產系統達國際高可用標準，復原能力可受外部審計稽核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　投資與回報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關鍵製造 KPI：2025 現況 vs 2027 目標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1323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783080"/>
            <a:ext cx="359359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8928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OTD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23544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88.5% → 98.2%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準時交貨提升 9.7 pt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0" y="2834640"/>
            <a:ext cx="359359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29443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換線損失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23544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28.0% → 10.5%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換線工時損失降 17.5 pt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3886200"/>
            <a:ext cx="359359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3995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布料損耗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5.8% → 4.1%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4389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損耗率降 1.7 pt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0" y="4937760"/>
            <a:ext cx="359359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46720" y="50474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事前攔截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235440" y="5029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 → 94%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產前異常多數在上線前攔下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　投資與回報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董事會雙軌預算審批備案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4434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12801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建議首選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方案 A｜集團全面躍升版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17520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US$640,000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404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約 NT$2,016 萬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43484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2,500 席跨國幹部全覆蓋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總部＋越、柬、印 4 大基地同步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全面對齊國際頂級品牌稽核要求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691640"/>
            <a:ext cx="5364328" cy="4434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6644488" y="1965960"/>
            <a:ext cx="128016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44488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備選彈性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44488" y="251460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方案 B｜精實核心啟動版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644488" y="3017520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US$310,000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644488" y="38404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約 NT$980 萬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44488" y="443484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鎖定總部與越南隆安旗艦廠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400 核心席位先行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柬、印基地次年複製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　投資與回報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財務口徑一致性檢核（呈董事會前建議統一）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4206240"/>
                <a:gridCol w="295351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檢核項目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網站標示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依網站數字推算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建議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IT 總投資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US$640k（約 NT$2,016 萬）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 項 WBS 預算加總 US$1,390k（約 NT$4,379 萬）；US$640k 恰為 Pillar I 八項合計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明確區分「數位底座基準預算」與「25 項專案總投資」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回收期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14.8 個月（另處 14～16 個月）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以 NT$2,016 萬計約 6.5 個月；以 NT$4,379 萬計約 14.2 個月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註明回收期所用的投資口徑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ROI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 : 3.84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3,705 ÷ 2,016 ≈ 1.84 倍（單年節省／底座預算）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補上 ROI 的計算期間與公式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布料節省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NT$2,205 萬（另處 2,200 萬）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四捨五入差異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統一為 NT$2,205 萬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94415" cy="822960"/>
          </a:xfrm>
          <a:prstGeom prst="rect">
            <a:avLst/>
          </a:prstGeom>
          <a:solidFill>
            <a:schemeClr val="accent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778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34924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建議簡報對外一律以「25 項專案總投資約 NT$4,379 萬、年節省 NT$3,705 萬、回收期約 14～15 個月」為主口徑，US$640k 定位為 Pillar I 數位底座年度基準預算。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架構藍圖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以數位底座為基、營運流程為經緯、智慧硬體為感知、智能決策為頂層樞紐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　架構藍圖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四大主架構與 25 項子領域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864" cy="44348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C7B8"/>
                </a:solidFill>
              </a:rPr>
              <a:t>Pillar 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數位底座與治理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大關鍵領域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9E0"/>
                </a:solidFill>
              </a:rPr>
              <a:t>建立系統整合、資料運用與 AI 發展所需的共同底層架構與治理規則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0824" y="1691640"/>
            <a:ext cx="2567864" cy="4434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65144" y="192024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Pillar II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65144" y="22402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營運流程整合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65144" y="283464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3665144" y="39319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端到端流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65144" y="443484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打破系統孤島，實現訂單至出貨的端到端即時資訊流與嚴謹門禁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91640"/>
            <a:ext cx="2567864" cy="4434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7328" y="192024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Pillar III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22402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智能營運與決策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283464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600" dirty="0"/>
          </a:p>
        </p:txBody>
      </p:sp>
      <p:sp>
        <p:nvSpPr>
          <p:cNvPr id="20" name="Text 18"/>
          <p:cNvSpPr txBox="1"/>
          <p:nvPr/>
        </p:nvSpPr>
        <p:spPr>
          <a:xfrm>
            <a:off x="6507328" y="39319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智能應用項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07328" y="443484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由資料事後呈現，邁向預測分析、異常介入與 Agentic AI 輔助決策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75191" y="1691640"/>
            <a:ext cx="2567864" cy="4434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49511" y="192024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Pillar IV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349511" y="22402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智慧製造與設備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49511" y="283464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600" dirty="0"/>
          </a:p>
        </p:txBody>
      </p:sp>
      <p:sp>
        <p:nvSpPr>
          <p:cNvPr id="26" name="Text 24"/>
          <p:cNvSpPr txBox="1"/>
          <p:nvPr/>
        </p:nvSpPr>
        <p:spPr>
          <a:xfrm>
            <a:off x="9349511" y="39319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設備與邊緣項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49511" y="443484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推動設備聯網、通訊標準化、感知自動化與邊緣離線自律運轉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　架構藍圖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Pillar I 數位底座與治理：8 大關鍵領域（US$640k）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3108960"/>
                <a:gridCol w="3474720"/>
                <a:gridCol w="20391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代號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領域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解決方案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規模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年度預算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P1-1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API 管理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Kong Enterprise 雙活網關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總部雙活 ＋ 3 海外廠邊緣叢集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US$52k｜NT$164 萬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P1-2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存取治理與身分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Entra ID P2／Frontline ＋ Vault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2,500 席分層 SSO ＋ AI Agent 沙盒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US$105k｜NT$331 萬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P1-3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企業資料層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Databricks Delta Lake ＋ CDC／Kafka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 廠即時 CDC ＋ 30TB+ 湖倉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US$115k｜NT$362 萬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P1-4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資料治理與標準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Profisee MDM ＋ Atlan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50 萬筆原物料清洗 ＋ 品質門禁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US$80k｜NT$252 萬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P1-5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AI 治理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Portkey ＋ LangSmith ＋ Llama-Guard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400 幹部 Copilot 沙盒、Token 配額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US$48k｜NT$151 萬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P1-6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資訊安全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CrowdStrike MDR ＋ Cloudflare ZTNA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2,500 席零信任 ＋ 800 端點託管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US$100k｜NT$315 萬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P1-7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備份與災備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Zerto CDP ＋ S3 WORM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核心 VM 秒級複製，RPO&lt;15m／RTO&lt;2h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US$68k｜NT$214 萬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P1-8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網路與邊緣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Fortinet SD-WAN HA ＋ 研華 IPC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 基地雙軌 ＋ 8 台車間邊緣主機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US$72k｜NT$227 萬</a:t>
                      </a:r>
                      <a:endParaRPr lang="en-US" sz="11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　架構藍圖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Pillar II 營運流程整合 ＆ Pillar III 智能營運與決策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5486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Pillar II｜5 端到端流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C7B8"/>
                </a:solidFill>
              </a:rPr>
              <a:t>WBS 合計 US$195k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P2-1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317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訂單交付追蹤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3317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Camunda 8：訂單至出貨 9 大工序可視化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440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89864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P2-2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8986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用料全流程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8986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Control Tower：BOM／採購／ETA／WMS 風險看板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5440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46557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P2-3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4655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4-Gate 產前門禁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346557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未達標鎖死發料，換線效率 +35%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32504"/>
            <a:ext cx="5440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03250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P2-4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03250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IE 與線平衡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403250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GSDCost 標準工時 × 技能矩陣即時核算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99432"/>
            <a:ext cx="5440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5994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P2-5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5994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跨部門工作流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45994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Flowable BPM：異常工單派工與 SLA 追蹤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691640"/>
            <a:ext cx="5422392" cy="5486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6520" y="169164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Pillar III｜7 智能應用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11512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C7B8"/>
                </a:solidFill>
              </a:rPr>
              <a:t>WBS 合計 US$300k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23317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P3-1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實時異常預警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732520" y="233172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Flink CEP：PCD 裁剪前 72h 缺料預警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2880360"/>
            <a:ext cx="542239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28803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P3-2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2880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跨廠戰情室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732520" y="288036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Power BI ＋ Superset 產量／效率／損耗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429000"/>
            <a:ext cx="542239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9360" y="34290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P3-3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交期完工預測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32520" y="342900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XGBoost：剩餘工時與 OTD 風險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3977640"/>
            <a:ext cx="542239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09360" y="39776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P3-4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線平衡模擬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732520" y="397764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OR-Tools 人機配置尋優，平衡率 95%+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4526280"/>
            <a:ext cx="542239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09360" y="45262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P3-5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949440" y="4526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生管跟單 Agent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732520" y="452628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跨語言問答與客訴跟催，釋放 15～25% 工時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5074920"/>
            <a:ext cx="542239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09360" y="50749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P3-6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949440" y="5074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多國語 RAG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732520" y="507492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Tech Pack 轉譯越／柬／印，檢索提效 70%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17920" y="5623560"/>
            <a:ext cx="542239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09360" y="56235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P3-7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949440" y="5623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RPA 自動化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732520" y="562356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報關與採購拋單機器人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　架構藍圖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Pillar IV 智慧製造與設備：5 設備與邊緣項（US$255k）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9545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916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P4-1 機台通訊與智慧設備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1691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Kepware OPC-UA ＋ EMQX MQTT，模板機自動派單與裁片計工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241280" y="16916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US$45k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2587752"/>
            <a:ext cx="11094415" cy="7772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7249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285064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25877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P4-2 AI 與運算基礎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25877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總部 4x GPU（vLLM）＋ 4 廠 K3s 邊緣推論節點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0241280" y="258775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US$65k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3483864"/>
            <a:ext cx="1109441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362102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3746754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348386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P4-3 車間 OT 隔離與離線自治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983480" y="348386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Moxa／研華邊緣網關 Delta 雙向同步，斷網零停機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0241280" y="3483864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US$40k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4379976"/>
            <a:ext cx="11094415" cy="7772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45171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4642866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437997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P4-4 生產數據採集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4983480" y="437997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Impinj RFID 讀寫器 ＋ 產線光電計工，實時回傳 MES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0241280" y="4379976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US$50k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548640" y="5276088"/>
            <a:ext cx="1109441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Shape 23"/>
          <p:cNvSpPr/>
          <p:nvPr/>
        </p:nvSpPr>
        <p:spPr>
          <a:xfrm>
            <a:off x="777240" y="54132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5538978"/>
            <a:ext cx="251460" cy="2514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508760" y="527608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P4-5 特種自動化設備整合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4983480" y="527608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印尼貼合溫壓 IoT 監控 ＋ 自動拉布裁床接口，大貨零脫膠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10241280" y="527608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US$55k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　架構藍圖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層級價值鏈：由基底硬體逐層遞進至 AI 協同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4297680"/>
            <a:ext cx="1490864" cy="1737360"/>
          </a:xfrm>
          <a:prstGeom prst="rect">
            <a:avLst/>
          </a:prstGeom>
          <a:solidFill>
            <a:srgbClr val="EFE9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4434840"/>
            <a:ext cx="121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93776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基礎設備與資料層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623560"/>
            <a:ext cx="121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Infrastructure /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9232" y="3931920"/>
            <a:ext cx="1490864" cy="2103120"/>
          </a:xfrm>
          <a:prstGeom prst="rect">
            <a:avLst/>
          </a:prstGeom>
          <a:solidFill>
            <a:srgbClr val="E8DED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86392" y="4069080"/>
            <a:ext cx="121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286392" y="457200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API／服務介接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86392" y="5623560"/>
            <a:ext cx="121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824" y="3566160"/>
            <a:ext cx="1490864" cy="2468880"/>
          </a:xfrm>
          <a:prstGeom prst="rect">
            <a:avLst/>
          </a:prstGeom>
          <a:solidFill>
            <a:srgbClr val="F2D3C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86984" y="3703320"/>
            <a:ext cx="121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886984" y="420624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端到端營運履約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86984" y="5623560"/>
            <a:ext cx="121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Process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50416" y="3200400"/>
            <a:ext cx="1490864" cy="2834640"/>
          </a:xfrm>
          <a:prstGeom prst="rect">
            <a:avLst/>
          </a:prstGeom>
          <a:solidFill>
            <a:srgbClr val="EDB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7576" y="3337560"/>
            <a:ext cx="121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487576" y="384048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即時透明看板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7576" y="5623560"/>
            <a:ext cx="121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Visibility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51008" y="2834640"/>
            <a:ext cx="1490864" cy="3200400"/>
          </a:xfrm>
          <a:prstGeom prst="rect">
            <a:avLst/>
          </a:prstGeom>
          <a:solidFill>
            <a:srgbClr val="E09A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88168" y="2971800"/>
            <a:ext cx="121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088168" y="347472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主動異常辨識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88168" y="5623560"/>
            <a:ext cx="121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Exception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51599" y="2468880"/>
            <a:ext cx="1490864" cy="3566160"/>
          </a:xfrm>
          <a:prstGeom prst="rect">
            <a:avLst/>
          </a:prstGeom>
          <a:solidFill>
            <a:srgbClr val="C960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8759" y="2606040"/>
            <a:ext cx="121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688759" y="310896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模擬與決策輔助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88759" y="5623560"/>
            <a:ext cx="121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Decision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52191" y="2103120"/>
            <a:ext cx="1490864" cy="3931920"/>
          </a:xfrm>
          <a:prstGeom prst="rect">
            <a:avLst/>
          </a:prstGeom>
          <a:solidFill>
            <a:srgbClr val="A8321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289351" y="2240280"/>
            <a:ext cx="121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10289351" y="274320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AI Copilot 協同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89351" y="5623560"/>
            <a:ext cx="121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Agent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1645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要解決的問題：不同系統、流程、資料與設備，能否在共同架構下真正整合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　架構藍圖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 三階梯與品牌客戶 IP 無菌室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3566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600200" y="3063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2027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應用權重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389120" y="1691640"/>
            <a:ext cx="35661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38912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階段一｜45%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規則型異常預警（Quick-Win）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先用確定性規則抓缺料、延誤等異常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2651760"/>
            <a:ext cx="35661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E5814"/>
                </a:solidFill>
              </a:rPr>
              <a:t>階段二｜35%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多國語 Tech Pack RAG 知識庫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做工規範可檢索、可轉譯，檢索提效 70%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89120" y="3611880"/>
            <a:ext cx="35661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83212"/>
                </a:solidFill>
              </a:rPr>
              <a:t>階段三｜20%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38912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IE／生管 Copilot 動態排線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38912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人機協同排線與跟單代理人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0" y="1691640"/>
            <a:ext cx="3410712" cy="44348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9" name="Shape 16"/>
          <p:cNvSpPr/>
          <p:nvPr/>
        </p:nvSpPr>
        <p:spPr>
          <a:xfrm>
            <a:off x="850392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210312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50392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品牌 IP 無菌室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1546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9E0"/>
                </a:solidFill>
              </a:rPr>
              <a:t>依 ISO/IEC 27001:2022 建立數據無菌室，以 Entra ID ＋ ABAC 屬性存取控制，隔離 Nike、Lululemon、Under Armour 等品牌版型資產，防範競品刺探與機密外洩。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5257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3C7B8"/>
                </a:solidFill>
              </a:rPr>
              <a:t>目標：品牌客戶資安驗廠通過率 100%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54406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AI 治理沿用 P1-5：Token 配額、Tech Pack 遮罩、決策軌跡紀錄（ISO/IEC 42001）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　架構藍圖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架構雷達：25 項核心功能整備度 2025 → 2027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008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691640"/>
          <a:ext cx="4416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68680"/>
                <a:gridCol w="868680"/>
                <a:gridCol w="9418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面向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2025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2027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提升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API &amp; 治理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95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+55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端到端履約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92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+42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物料閉環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+45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主動異常辨識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+58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IE 模擬優化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+50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邊緣離線自治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95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+55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自動設備整合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92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+42</a:t>
                      </a:r>
                      <a:endParaRPr lang="en-US" sz="12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223760" y="5623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整備度分數（0–100），引自網站架構雷達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現場落地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邊緣韌性、產前門禁與 IE 演算，讓架構在車間真正產生效益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　現場落地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跨國邊緣韌性：海纜中斷，車間仍可自主生產 48～72 小時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越南隆安主力廠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燈塔示範廠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小時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離線可用容限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611880"/>
            <a:ext cx="22402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MES／網路　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12 ms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待同步佇列　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0 件（已同步）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697480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柬埔寨金邊廠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240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針織運動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小時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離線可用容限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3611880"/>
            <a:ext cx="22402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MES／網路　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18 ms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待同步佇列　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14 件（同步中）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691640"/>
            <a:ext cx="2697480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印尼中爪哇廠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240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無縫貼合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小時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離線可用容限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3611880"/>
            <a:ext cx="22402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MES／網路　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海纜波動・本地自治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待同步佇列　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128 件（快取安全）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89720" y="1691640"/>
            <a:ext cx="2450592" cy="29718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台北營運總部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C7B8"/>
                </a:solidFill>
              </a:rPr>
              <a:t>Data Layer / AI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0" y="265176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Group Master MDM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Kong Enterprise 閘道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4x GPU AI 叢集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Zero-Trust 防禦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11094415" cy="123444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029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同步機制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376672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斷網時車間以研華工業邊緣主機 DuckDB 本地快取持續計數工票；連線恢復後，WAL 異動日誌以 Delta 差分與台北 Databricks Delta Lake 雙向自動回傳，ACID 原子寫入確認。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　現場落地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Ready-to-Sew 4-Gate：條件不齊，系統不發料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864" cy="2514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門禁一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BOM 與原副料齊套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WMS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110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主布縮率檢測完畢、色號批次相符、副料已入裁片超市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216" y="278892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90824" y="1691640"/>
            <a:ext cx="2567864" cy="2514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19424" y="187452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門禁二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19424" y="21945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工藝包與工序標準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619424" y="256032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Tech Pack / IE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619424" y="2926080"/>
            <a:ext cx="2110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最新客審工藝包就緒、SAM 確認、針距與針種規範確立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400" y="2788920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33008" y="1691640"/>
            <a:ext cx="2567864" cy="2514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61608" y="187452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門禁三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461608" y="21945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MQP 產前樣確認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461608" y="256032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Quality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461608" y="2926080"/>
            <a:ext cx="2110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PP 會議結論已簽核、品管封樣確認、特殊部位無異議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583" y="2788920"/>
            <a:ext cx="274320" cy="2743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075191" y="1691640"/>
            <a:ext cx="2567864" cy="2514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303791" y="187452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門禁四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9303791" y="21945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裁剪配套與特殊工序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9303791" y="256032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Sewing Ready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9303791" y="2926080"/>
            <a:ext cx="2110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自動裁床拉布完成，印花／繡花／熱壓特工件入超市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48640" y="4389120"/>
            <a:ext cx="5486400" cy="1463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Shape 23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8C2A0F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78917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508760" y="4663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門禁攔截・嚴禁發料上線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1508760" y="516636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例：MQP 產前樣尚未由品管簽核封樣，系統主動凍結排程發料，避免車縫線停擺。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245352" y="4389120"/>
            <a:ext cx="5394960" cy="14630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6519672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Override SOP｜雙簽特許放行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6519672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D9E0"/>
                </a:solidFill>
              </a:rPr>
              <a:t>海外廠長 ＋ 周副總雙簽，可在齊套 85% 時有條件投產，系統標記紅色風險工單。兼顧制度剛性與現場彈性。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目標成效：首日換線效率 +35%・拆工返修 −50%・車間組織阻力 −80%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　現場落地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IE 車縫線平衡演算器：技能與齊套決定產能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模擬輸入（網站預設情境）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車縫工段技能矩陣成熟度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2148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146304"/>
          </a:xfrm>
          <a:prstGeom prst="rect">
            <a:avLst/>
          </a:prstGeom>
          <a:solidFill>
            <a:srgbClr val="E9E4D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651760"/>
            <a:ext cx="4585716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50% 大量新手換線 ／ 75% 常態 ／ 100% 多技能熟手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裁片超市特工齊套率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611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94960" cy="146304"/>
          </a:xfrm>
          <a:prstGeom prst="rect">
            <a:avLst/>
          </a:prstGeom>
          <a:solidFill>
            <a:srgbClr val="E9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14800"/>
            <a:ext cx="4963363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89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50% 缺特工件等待 ／ 75% 局部補料 ／ 100% 全齊套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57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技能越熟、齊套越完整，換線學習曲線越短，瓶頸等待越少。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1691640"/>
            <a:ext cx="2551176" cy="2057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88.4%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預估車縫線平衡率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43416" y="1691640"/>
            <a:ext cx="2551176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72016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86.2%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272016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車間綜合效率 OEE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3931920"/>
            <a:ext cx="2551176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1,420 件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單組標準日產能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43416" y="3931920"/>
            <a:ext cx="2551176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72016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 min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272016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節拍瓶頸等待損失（SAM）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　現場落地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法規、ESG 與風險移轉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4434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1145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7432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東南亞數據主權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46120"/>
            <a:ext cx="28751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合規越南《網絡安全法》（Decree 53）與印尼《個人數據保護法》（PDP）：員工個資與薪資稅務在地邊緣留存，去機敏後才串流總部湖倉。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5394960"/>
            <a:ext cx="287517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54864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零跨國法規罰款風險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38218" y="1691640"/>
            <a:ext cx="3515258" cy="4434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4658258" y="19659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848" y="211455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58258" y="27432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ESG 數位產品護照（DPP）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658258" y="3246120"/>
            <a:ext cx="28751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車間電錶與蒸氣數據即時進入 Databricks，自動產出單件能耗與 Scope 3 碳足跡，對接歐盟 DPP，協助業務爭取高端永續訂單。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58258" y="5394960"/>
            <a:ext cx="287517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658258" y="54864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單件碳足跡自動認證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27797" y="1691640"/>
            <a:ext cx="3515258" cy="4434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5"/>
          <p:cNvSpPr/>
          <p:nvPr/>
        </p:nvSpPr>
        <p:spPr>
          <a:xfrm>
            <a:off x="8447837" y="19659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427" y="2114550"/>
            <a:ext cx="297180" cy="2971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47837" y="27432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資安保險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447837" y="3246120"/>
            <a:ext cx="28751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以 CrowdStrike 24/7 MDR 與 Zerto 秒級災備，爭取國際一級資安險最佳承保資格與保費折扣。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447837" y="5394960"/>
            <a:ext cx="287517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47837" y="54864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百萬美元級資安險承保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　現場落地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國際 IT 主管 6 大關鍵升級節點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572000"/>
                <a:gridCol w="267919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升級節點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做法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目標成效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商業價值與硬性財務對沖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錨定 OTD、線平衡、布料利用率與 WIP 四大 KPI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年省 NT$3,700 萬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跨國離線自治與數據主權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48～72h 離線生產，個資在地留存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斷網零停機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4-Gate 與人性化特許審批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硬性門禁 ＋ 雙簽紅色風險工單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換線效率 +35%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AI 三階梯與品牌 IP 無菌室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規則預警 → RAG → 動態排線 Agent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手冊檢索提效 70%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ESG DPP 與資安險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單件碳足跡、國際一級資安險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搶攻永續大單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1＋N 燈塔廠與駐廠突擊隊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隆安打樣，下半年複製金邊、中爪哇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跨國部署風險 −60%</a:t>
                      </a:r>
                      <a:endParaRPr lang="en-US" sz="13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執行治理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四季平準化推進，內部核心掌控 ＋ 外部專業支援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　執行治理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2027 季度路線：築底 → 燈塔 → 複製 → 驗收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864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總部基底成型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01/04～03/31｜15 項啟動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雙活 Kong 網關、Entra ID 400 核心幹部 SSO、CrowdStrike MDR 與 Zerto 災備上線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0824" y="1691640"/>
            <a:ext cx="2567864" cy="33832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65144" y="187452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665144" y="265176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越南示範驗證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65144" y="301752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04/01～06/30｜24 項攻堅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65144" y="342900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隆安燈塔廠 4-Gate、72h 離線自主、Camunda 8 履約與 Flink PCD 預警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691640"/>
            <a:ext cx="2567864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7328" y="187452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265176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柬印新廠複製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301752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07/01～09/30｜23 項推廣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42900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金邊與中爪哇交鑰匙複製；貫通 Databricks 30TB 湖倉與 Tech Pack RAG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75191" y="1691640"/>
            <a:ext cx="2567864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49511" y="187452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349511" y="265176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智能全面閉環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49511" y="301752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10/01～12/31｜全量收官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49511" y="342900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Agentic AI 客服跟單、OR-Tools 排產尋優、高管決策看板與 2,500 席審計驗收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1094415" cy="822960"/>
          </a:xfrm>
          <a:prstGeom prst="rect">
            <a:avLst/>
          </a:prstGeom>
          <a:solidFill>
            <a:schemeClr val="accent6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32120"/>
            <a:ext cx="365760" cy="36576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71600" y="530352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</a:rPr>
              <a:t>封網與避開假期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2/5～2/14 春節與越南 Tet 停工 10 天實施 Code Freeze；並排開 3 月印尼開齋節、4 月柬埔寨新年、9 月越南國慶、10 月柬埔寨亡人節。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　執行治理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組織與資源：內部 16～18 人 ＋ 外部 4 大戰略支援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內部 5 大小組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6692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21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雲端與基礎設施維運組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22037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人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Kong、SD-WAN、Zerto 備份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6692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99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身分治理與資訊安全組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9809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人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337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Entra ID、Vault、MDR 聯防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6692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76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數據架構與中台治理組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758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人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Databricks、MDM、BI 看板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56692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553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營運流程與 AI 應用組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4535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人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92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Camunda、4-Gate、RAG、OR-Tools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56692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330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智慧製造與海外 OT 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53126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5～7 人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69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OPC-UA、邊緣主機、RFID、IoT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035040"/>
            <a:ext cx="56692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1691640"/>
            <a:ext cx="5148072" cy="4434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外部 4 大戰略支援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766560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860" y="2537460"/>
            <a:ext cx="228600" cy="22860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7406640" y="2377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原廠架構諮詢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406640" y="27157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Microsoft／Databricks／Profisee CSA，避免架構走彎路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766560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0" y="3451860"/>
            <a:ext cx="228600" cy="22860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406640" y="3291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 駐廠實施隊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7406640" y="3630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高峰期 6～8 人，Q2 隆安攻堅、Q3 柬印複製，上線後退場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766560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860" y="4366260"/>
            <a:ext cx="228600" cy="22860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740664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24/7 資安託管</a:t>
            </a:r>
            <a:endParaRPr lang="en-US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7406640" y="4544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CrowdStrike Falcon Complete 全託管 MDR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766560" y="5166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60" y="5280660"/>
            <a:ext cx="228600" cy="22860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7406640" y="5120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海外在地維保</a:t>
            </a:r>
            <a:endParaRPr lang="en-US" sz="1400" dirty="0"/>
          </a:p>
        </p:txBody>
      </p:sp>
      <p:sp>
        <p:nvSpPr>
          <p:cNvPr id="43" name="Text 37"/>
          <p:cNvSpPr txBox="1"/>
          <p:nvPr/>
        </p:nvSpPr>
        <p:spPr>
          <a:xfrm>
            <a:off x="7406640" y="5458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電信專線與研華在地維保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　執行治理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啟動第一步：4 週職能與設備盤點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55648"/>
            <a:ext cx="179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 1 週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9968"/>
            <a:ext cx="179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啟動宣導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06040"/>
            <a:ext cx="2476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周副總發布公文，定調為培訓升級與設備更換的預算依據，指派海外盤點窗口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0824" y="173736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9082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168064" y="1755648"/>
            <a:ext cx="179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 2 週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68064" y="2029968"/>
            <a:ext cx="179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表單填寫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390824" y="2606040"/>
            <a:ext cx="2476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下發 5 大標準表單；直屬主管 1～5 分客觀複核，軟硬體資產同步填寫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73736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010248" y="1755648"/>
            <a:ext cx="179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 3 週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2029968"/>
            <a:ext cx="179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工具對帳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33008" y="2606040"/>
            <a:ext cx="2476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Nmap／Tenable 網段掃描背對背對帳；跨國視訊抽查機房與拔網線實測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75191" y="173736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75191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852431" y="1755648"/>
            <a:ext cx="179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 4 週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852431" y="2029968"/>
            <a:ext cx="179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成果呈報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075191" y="2606040"/>
            <a:ext cx="2476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產出 3 大高階決策件，直接支撐預算分配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5 大標準表單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IT/OT 技術職能自評表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43434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8892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管理與跨國協同職能表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43434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伺服器／VM／雲端資產表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69480" y="43434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6948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車間 OT 邊緣與機台表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09760" y="43434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50976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應用系統與 SaaS 授權表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11094415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2960" y="5166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 大交付物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54864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① 全集團 IT/OT 技能熱力圖　② 技術債與斷網風險清冊　③ FinOps 授權降本建議書（400 核心幹部 ＋ 2,100 現場幹部分層授權，落實 Run Cost −8～12%）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　執行治理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請周副總裁示事項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583680"/>
                <a:gridCol w="213055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事項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請裁示內容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時點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01　預算方案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核定方案 A 集團全面躍升版（建議），或方案 B 精實核心啟動版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董事會送審前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02　財務口徑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同意以「25 項專案總投資＋年節省＋回收期」為對外主口徑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董事會送審前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03　盤點公文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由副總發布公文，啟動 4 週職能與設備盤點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核定後 1 週內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04　特許放行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授權 4-Gate「海外廠長＋副總」雙簽 Override SOP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Q2 隆安上線前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05　駐廠突擊隊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同意 Q2 派駐 1 架構師＋1 資深 IE 於隆安 60 天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2027 Q2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06　封網期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核准 2/5～2/14 春節與 Tet 期間 Code Freeze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2027 年 1 月</a:t>
                      </a:r>
                      <a:endParaRPr lang="en-US" sz="1400" dirty="0"/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321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Q &amp; 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謝謝副總指導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10972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5661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線上戰情白皮書與互動試算器：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howardliao.github.io/RSI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7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Howard Liao Ph.D.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Lead Architect &amp; C-Level Advisor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52360" y="1325880"/>
            <a:ext cx="3840480" cy="38404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9" name="Image 0" descr="Howard Liao Ph.D. 大頭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2" y="1490472"/>
            <a:ext cx="3511296" cy="3511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ilan Amber">
  <a:themeElements>
    <a:clrScheme name="Milan Amber">
      <a:dk1>
        <a:srgbClr val="2D3748"/>
      </a:dk1>
      <a:lt1>
        <a:srgbClr val="FFFFFF"/>
      </a:lt1>
      <a:dk2>
        <a:srgbClr val="4A5160"/>
      </a:dk2>
      <a:lt2>
        <a:srgbClr val="F6F2EE"/>
      </a:lt2>
      <a:accent1>
        <a:srgbClr val="A83212"/>
      </a:accent1>
      <a:accent2>
        <a:srgbClr val="DE5814"/>
      </a:accent2>
      <a:accent3>
        <a:srgbClr val="D97706"/>
      </a:accent3>
      <a:accent4>
        <a:srgbClr val="D8D2CA"/>
      </a:accent4>
      <a:accent5>
        <a:srgbClr val="6B6F76"/>
      </a:accent5>
      <a:accent6>
        <a:srgbClr val="FBE9E2"/>
      </a:accent6>
      <a:hlink>
        <a:srgbClr val="A83212"/>
      </a:hlink>
      <a:folHlink>
        <a:srgbClr val="6B6F76"/>
      </a:folHlink>
    </a:clrScheme>
    <a:fontScheme name="Milan Amber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RSI 信源全球 2027 IT 營運計畫架構</dc:title>
  <dc:subject>PptxGenJS Presentation</dc:subject>
  <dc:creator>Howard Liao Ph.D.</dc:creator>
  <cp:lastModifiedBy>Howard Liao Ph.D.</cp:lastModifiedBy>
  <cp:revision>1</cp:revision>
  <dcterms:created xsi:type="dcterms:W3CDTF">2026-10-10T23:25:35Z</dcterms:created>
  <dcterms:modified xsi:type="dcterms:W3CDTF">2026-10-10T23:25:35Z</dcterms:modified>
</cp:coreProperties>
</file>