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RSI GLOBAL ENTERPRISE · PROJECT HIVE 2027 · EXECUTIVE STRATEGY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8FAFC"/>
                </a:solidFill>
              </a:defRPr>
            </a:pPr>
            <a:r>
              <a:t>信源全球 · 2027 蜂巢計畫（Project Hive）</a:t>
            </a:r>
            <a:br/>
            <a:r>
              <a:t>第一階段顧問服務 12 週實施全景高管簡報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Pillar I 數位底座 8 大關鍵領域 ｜ 跨國 API 總平台 ｜ 雙軌資料湖倉 ｜ 海外三廠邊緣離線自治 ｜ 16 人團隊 SCM 治理</a:t>
            </a:r>
          </a:p>
          <a:p>
            <a:pPr>
              <a:spcBef>
                <a:spcPts val="2800"/>
              </a:spcBef>
              <a:defRPr sz="1100" b="1">
                <a:solidFill>
                  <a:srgbClr val="E87524"/>
                </a:solidFill>
              </a:defRPr>
            </a:pPr>
            <a:r>
              <a:t>計劃主持人：周文津 副總經理 (信源全球)   ｜   執行負責人：Howard Liao Ph.D. (外部企業架構顧問)</a:t>
            </a:r>
            <a:br/>
            <a:r>
              <a:t>委任執行期程：2026/11/02 ~ 2027/01/29 (12 週 / 17 服務日)   ｜   機密等級：內部受控 (Classified Executive Deck)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第一階段戰略願景與四大核心承諾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Pillar I 數位底座全面夯實，以高韌性與嚴謹治理迎向 2027 AI 規模化營運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🛡️ 營運韌性 (Resilience)</a:t>
            </a:r>
            <a:r>
              <a:rPr sz="1000" b="1">
                <a:solidFill>
                  <a:srgbClr val="38BDF8"/>
                </a:solidFill>
              </a:rPr>
              <a:t>  [硬性指標]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48~72h 自律： </a:t>
            </a:r>
            <a:r>
              <a:rPr>
                <a:solidFill>
                  <a:srgbClr val="E2E8F0"/>
                </a:solidFill>
              </a:rPr>
              <a:t>海外三廠部署華碩 ASUS GX10 工控機，海纜斷網車間照常車縫生產。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雙向差分對帳： </a:t>
            </a:r>
            <a:r>
              <a:rPr>
                <a:solidFill>
                  <a:srgbClr val="E2E8F0"/>
                </a:solidFill>
              </a:rPr>
              <a:t>復網後自動回傳增量日誌，確保計件工資與工單 0 遺失。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災難復原保證： </a:t>
            </a:r>
            <a:r>
              <a:rPr>
                <a:solidFill>
                  <a:srgbClr val="E2E8F0"/>
                </a:solidFill>
              </a:rPr>
              <a:t>核心生產系統 RPO &lt; 15 分鐘、RTO &lt; 2 小時，通過實兵檢驗。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🤖 AI 規模化 (Agentic AI)</a:t>
            </a:r>
            <a:r>
              <a:rPr sz="1000" b="1">
                <a:solidFill>
                  <a:srgbClr val="10B981"/>
                </a:solidFill>
              </a:rPr>
              <a:t>  [落地成效]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示範燈塔系統： </a:t>
            </a:r>
            <a:r>
              <a:rPr>
                <a:solidFill>
                  <a:srgbClr val="E2E8F0"/>
                </a:solidFill>
              </a:rPr>
              <a:t>以 CQS (.NET 8 + Vue 3) 率先試行 AI Coding，開發效率提升 28%。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4-Gate 產前門禁： </a:t>
            </a:r>
            <a:r>
              <a:rPr>
                <a:solidFill>
                  <a:srgbClr val="E2E8F0"/>
                </a:solidFill>
              </a:rPr>
              <a:t>物料未齊套直接硬性鎖定裁床，杜絕缺料冒然開裁造成布損。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多國自動翻譯： </a:t>
            </a:r>
            <a:r>
              <a:rPr>
                <a:solidFill>
                  <a:srgbClr val="E2E8F0"/>
                </a:solidFill>
              </a:rPr>
              <a:t>Tech Pack 專業客審詞庫自動翻譯，釋放 15%~25% 作業工時。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💎 資料可信任 (Data Trust)</a:t>
            </a:r>
            <a:r>
              <a:rPr sz="1000" b="1">
                <a:solidFill>
                  <a:srgbClr val="F59E0B"/>
                </a:solidFill>
              </a:rPr>
              <a:t>  [數據底座]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雙層語意層： </a:t>
            </a:r>
            <a:r>
              <a:rPr>
                <a:solidFill>
                  <a:srgbClr val="E2E8F0"/>
                </a:solidFill>
              </a:rPr>
              <a:t>導入 Gartner 2026 標竿，統一 20 大成衣指標計算公式。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指標同源治理： </a:t>
            </a:r>
            <a:r>
              <a:rPr>
                <a:solidFill>
                  <a:srgbClr val="E2E8F0"/>
                </a:solidFill>
              </a:rPr>
              <a:t>消滅生管 AI 預測與廠長清晨 06:00 晨會看板數字矛盾。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品牌智財隔離： </a:t>
            </a:r>
            <a:r>
              <a:rPr>
                <a:solidFill>
                  <a:srgbClr val="E2E8F0"/>
                </a:solidFill>
              </a:rPr>
              <a:t>Nike / Lululemon 實體租戶隔離，圖檔上傳前去識別化。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⚖️ 成本可控化 (FinOps)</a:t>
            </a:r>
            <a:r>
              <a:rPr sz="1000" b="1">
                <a:solidFill>
                  <a:srgbClr val="E87524"/>
                </a:solidFill>
              </a:rPr>
              <a:t>  [財務回報]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450萬主機分段： </a:t>
            </a:r>
            <a:r>
              <a:rPr>
                <a:solidFill>
                  <a:srgbClr val="E2E8F0"/>
                </a:solidFill>
              </a:rPr>
              <a:t>預算保留、下半年驗收採購，首年現省 150 萬元硬體折舊！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AWS 算力年費： </a:t>
            </a:r>
            <a:r>
              <a:rPr>
                <a:solidFill>
                  <a:srgbClr val="E2E8F0"/>
                </a:solidFill>
              </a:rPr>
              <a:t>確認全年度僅約 30~50 萬 (月均 3~4 萬)，維持極低 OpEx。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年度現金節省： </a:t>
            </a:r>
            <a:r>
              <a:rPr>
                <a:solidFill>
                  <a:srgbClr val="E2E8F0"/>
                </a:solidFill>
              </a:rPr>
              <a:t>對沖空運包機與大貨布損，年省 NT$ 3,705 萬，6.5 個月回本！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ENTERPRISE ARCHITECTURE BLUEPRINT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Pillar I 數位底座 8 大關鍵領域 ＆ 55/25/20 投資模型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以微軟 .NET 8 與資料湖倉為核心，構建跨國星狀高可用製造數位骨幹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🏛️ 2027 蜂巢計畫 Pillar I 八大工程領域</a:t>
            </a:r>
            <a:r>
              <a:rPr sz="1000" b="1">
                <a:solidFill>
                  <a:srgbClr val="38BDF8"/>
                </a:solidFill>
              </a:rPr>
              <a:t>  [8 大核心領域]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D01 跨國 API 總平台： </a:t>
            </a:r>
            <a:r>
              <a:rPr>
                <a:solidFill>
                  <a:srgbClr val="E2E8F0"/>
                </a:solidFill>
              </a:rPr>
              <a:t>C# .NET 8 Web API ＋ 統一 ApiResponse&lt;T&gt; 信封。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D02 雙軌資料湖倉： </a:t>
            </a:r>
            <a:r>
              <a:rPr>
                <a:solidFill>
                  <a:srgbClr val="E2E8F0"/>
                </a:solidFill>
              </a:rPr>
              <a:t>業務交易軌 (OLTP) 與巨量分析軌 (ADLS Gen2) 徹底解耦。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D03 深夜離峰傳輸： </a:t>
            </a:r>
            <a:r>
              <a:rPr>
                <a:solidFill>
                  <a:srgbClr val="E2E8F0"/>
                </a:solidFill>
              </a:rPr>
              <a:t>嚴守深夜 01:00~03:00 一日一次增量打包，保護 SD-WAN。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D04 雙層語意層架構： </a:t>
            </a:r>
            <a:r>
              <a:rPr>
                <a:solidFill>
                  <a:srgbClr val="E2E8F0"/>
                </a:solidFill>
              </a:rPr>
              <a:t>落實 Gartner 2026 組合式語意，統一 20 大成衣指標。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D05 邊緣離線自治： </a:t>
            </a:r>
            <a:r>
              <a:rPr>
                <a:solidFill>
                  <a:srgbClr val="E2E8F0"/>
                </a:solidFill>
              </a:rPr>
              <a:t>海外廠配置 ASUS GX10，保障 48~72 小時車間連續運作。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D06 SCM 版控治理： </a:t>
            </a:r>
            <a:r>
              <a:rPr>
                <a:solidFill>
                  <a:srgbClr val="E2E8F0"/>
                </a:solidFill>
              </a:rPr>
              <a:t>收斂 16 位同仁至 GitLab ＋ Notion，落實 MR 具名審核。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D07 機房 85 萬升級： </a:t>
            </a:r>
            <a:r>
              <a:rPr>
                <a:solidFill>
                  <a:srgbClr val="E2E8F0"/>
                </a:solidFill>
              </a:rPr>
              <a:t>Core Switch 25G 模組 ＋ NetApp 25G 網卡 (採 DAC 直連)。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D08 AI 合規與治理： </a:t>
            </a:r>
            <a:r>
              <a:rPr>
                <a:solidFill>
                  <a:srgbClr val="E2E8F0"/>
                </a:solidFill>
              </a:rPr>
              <a:t>對齊金管會 GenAI 六大原則、品牌智財無菌室與內控9-1。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📊 Gartner 55/25/20 資本配置與財務對沖</a:t>
            </a:r>
            <a:r>
              <a:rPr sz="1000" b="1">
                <a:solidFill>
                  <a:srgbClr val="F59E0B"/>
                </a:solidFill>
              </a:rPr>
              <a:t>  [財務與 ROI]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55% Run (維運穩固)： </a:t>
            </a:r>
            <a:r>
              <a:rPr>
                <a:solidFill>
                  <a:srgbClr val="E2E8F0"/>
                </a:solidFill>
              </a:rPr>
              <a:t>約 NT$ 1,108.8 萬。守住機房、SD-WAN 專線與 ERP 底盤。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25% Grow (業務增長)： </a:t>
            </a:r>
            <a:r>
              <a:rPr>
                <a:solidFill>
                  <a:srgbClr val="E2E8F0"/>
                </a:solidFill>
              </a:rPr>
              <a:t>約 NT$ 504 萬。支持成衣跨國擴廠、CQS 推廣與物流對接。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20% Transform (創新)： </a:t>
            </a:r>
            <a:r>
              <a:rPr>
                <a:solidFill>
                  <a:srgbClr val="E2E8F0"/>
                </a:solidFill>
              </a:rPr>
              <a:t>約 NT$ 403.2 萬。打造以圖找圖模型、生管 AI Agent 與 RAG。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單件成衣數位成本： </a:t>
            </a:r>
            <a:r>
              <a:rPr>
                <a:solidFill>
                  <a:srgbClr val="E2E8F0"/>
                </a:solidFill>
              </a:rPr>
              <a:t>總投資分攤至每件成衣，DCPG 僅約 NT$ 0.27 元極低成本。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防禦空運包機罰款： </a:t>
            </a:r>
            <a:r>
              <a:rPr>
                <a:solidFill>
                  <a:srgbClr val="E2E8F0"/>
                </a:solidFill>
              </a:rPr>
              <a:t>成功防禦 2 次空運包機違約，每年現省 NT$ 15,000,000。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大貨布料損耗改善： </a:t>
            </a:r>
            <a:r>
              <a:rPr>
                <a:solidFill>
                  <a:srgbClr val="E2E8F0"/>
                </a:solidFill>
              </a:rPr>
              <a:t>4-Gate 防呆提升布料利用率 1.2%，每年節省 NT$ 22,050,000。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年度總節省現金流： </a:t>
            </a:r>
            <a:r>
              <a:rPr>
                <a:solidFill>
                  <a:srgbClr val="E2E8F0"/>
                </a:solidFill>
              </a:rPr>
              <a:t>★ 每年硬性節省 NT$ 37,050,000，全案投資回收期僅 6.5 個月！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01 · 2026/11/02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專案啟動大會、16 人組織現況摸底與願景對齊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確立 12 週實施里程碑與 17 個顧問服務日基準，拍板 55/25/20 資本模型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F59E0B"/>
                </a:solidFill>
              </a:rPr>
              <a:t>  [實施紀要]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全體啟動大會： </a:t>
            </a:r>
            <a:r>
              <a:rPr>
                <a:solidFill>
                  <a:srgbClr val="E2E8F0"/>
                </a:solidFill>
              </a:rPr>
              <a:t>周文津副總親自主持，召集總部 ITS 與海外技術幹部對齊願景。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組織職能盤點： </a:t>
            </a:r>
            <a:r>
              <a:rPr>
                <a:solidFill>
                  <a:srgbClr val="E2E8F0"/>
                </a:solidFill>
              </a:rPr>
              <a:t>發布 8 大領域 45 項技術指標評鑑表，摸清內部 16 位同仁技能分佈。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工具分裂排查： </a:t>
            </a:r>
            <a:r>
              <a:rPr>
                <a:solidFill>
                  <a:srgbClr val="E2E8F0"/>
                </a:solidFill>
              </a:rPr>
              <a:t>首度排查出 Notion 隊 (6人) 與 Wrike 隊 (10人) 工具雙軌割裂痛點。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資本配置拍板： </a:t>
            </a:r>
            <a:r>
              <a:rPr>
                <a:solidFill>
                  <a:srgbClr val="E2E8F0"/>
                </a:solidFill>
              </a:rPr>
              <a:t>高管委員會正式核定導入 Gartner R-G-T 55/25/20 預算配置模型。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專案章程 (Project Charter)： </a:t>
            </a:r>
            <a:r>
              <a:rPr>
                <a:solidFill>
                  <a:srgbClr val="E2E8F0"/>
                </a:solidFill>
              </a:rPr>
              <a:t>確立 12 週甘特圖、M1/M2 決策閘門與 17 服務日基準。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技術能力深度檢核表： </a:t>
            </a:r>
            <a:r>
              <a:rPr>
                <a:solidFill>
                  <a:srgbClr val="E2E8F0"/>
                </a:solidFill>
              </a:rPr>
              <a:t>完成 16 位工程師初次技能成熟度 (L1~L5) 摸底檔案。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資本治理 ROI 試算器： </a:t>
            </a:r>
            <a:r>
              <a:rPr>
                <a:solidFill>
                  <a:srgbClr val="E2E8F0"/>
                </a:solidFill>
              </a:rPr>
              <a:t>建立單件成衣數位成本 (DCPG) 與空運對沖試算模型。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計劃主持人周文津副總經理正式簽署專案章程發布！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02 · 2026/11/09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5 大核心系統代碼走查、CQS 燈塔確立與技術債體檢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深度剖析 D365 X++, RD Sample, D365外掛, CQS 與快遞系統之架構相依性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38BDF8"/>
                </a:solidFill>
              </a:rPr>
              <a:t>  [技術體檢]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CQS 示範燈塔確立： </a:t>
            </a:r>
            <a:r>
              <a:rPr>
                <a:solidFill>
                  <a:srgbClr val="E2E8F0"/>
                </a:solidFill>
              </a:rPr>
              <a:t>CQS 採用 .NET 8 + Vue 3 + TS，架構極其乾淨，確立為第一樣板。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Knockout.js 斷層診斷： </a:t>
            </a:r>
            <a:r>
              <a:rPr>
                <a:solidFill>
                  <a:srgbClr val="E2E8F0"/>
                </a:solidFill>
              </a:rPr>
              <a:t>排查出 RD Sample 相依於已淘汰框架，面臨 Bus Factor 人才危機。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D365 外掛架構體檢： </a:t>
            </a:r>
            <a:r>
              <a:rPr>
                <a:solidFill>
                  <a:srgbClr val="E2E8F0"/>
                </a:solidFill>
              </a:rPr>
              <a:t>發現外掛採 .NET 4.8 Web API 5.2，缺乏單元測試，改 A 壞 B 頻傳。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.NET 兩代斷層分析： </a:t>
            </a:r>
            <a:r>
              <a:rPr>
                <a:solidFill>
                  <a:srgbClr val="E2E8F0"/>
                </a:solidFill>
              </a:rPr>
              <a:t>指出 .NET 4.8 與 8.0 無法共用 DLL，揭露代碼複製貼上技術債。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5 大系統技術棧體檢白皮書： </a:t>
            </a:r>
            <a:r>
              <a:rPr>
                <a:solidFill>
                  <a:srgbClr val="E2E8F0"/>
                </a:solidFill>
              </a:rPr>
              <a:t>完整收錄 5 大系統運行環境、架構漏洞與技術債矩陣。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技術債分階段翻新路線圖： </a:t>
            </a:r>
            <a:r>
              <a:rPr>
                <a:solidFill>
                  <a:srgbClr val="E2E8F0"/>
                </a:solidFill>
              </a:rPr>
              <a:t>確立第一階段以 CQS 為核心、後續借力 AI 翻新之策略。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架構越界代碼清查清冊： </a:t>
            </a:r>
            <a:r>
              <a:rPr>
                <a:solidFill>
                  <a:srgbClr val="E2E8F0"/>
                </a:solidFill>
              </a:rPr>
              <a:t>列出 Controller 混雜 SQL 查詢等違規代碼整改清單。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周副總核可體檢報告，指示按顧問分階段路線圖穩健推進！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03 · 2026/11/16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SCM 原始碼版控收斂至 GitLab ＋ Notion 整合啟動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收斂 Wrike 10 人專案，鎖定 main 主幹分支，建立剛性 Merge Request (MR) 審核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F59E0B"/>
                </a:solidFill>
              </a:rPr>
              <a:t>  [流程收斂]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Wrike 專案全面遷移： </a:t>
            </a:r>
            <a:r>
              <a:rPr>
                <a:solidFill>
                  <a:srgbClr val="E2E8F0"/>
                </a:solidFill>
              </a:rPr>
              <a:t>拍板將 10 位同仁的獨立 Git 倉庫全數無損整併至集團統一 GitLab。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main 主幹剛性鎖定： </a:t>
            </a:r>
            <a:r>
              <a:rPr>
                <a:solidFill>
                  <a:srgbClr val="E2E8F0"/>
                </a:solidFill>
              </a:rPr>
              <a:t>全面開啟分支保護，嚴禁直接 push main，杜絕線上隨意改版。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Notion 統一任務大盤： </a:t>
            </a:r>
            <a:r>
              <a:rPr>
                <a:solidFill>
                  <a:srgbClr val="E2E8F0"/>
                </a:solidFill>
              </a:rPr>
              <a:t>建置 Projects, Tasks, Wiki 三大關聯資料庫，取代 Wrike。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Review Matrix 落地： </a:t>
            </a:r>
            <a:r>
              <a:rPr>
                <a:solidFill>
                  <a:srgbClr val="E2E8F0"/>
                </a:solidFill>
              </a:rPr>
              <a:t>依 L1/L2/L3 風險分級代碼審查，平衡品質嚴謹度與團隊負荷。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SCM 版控與分支保護政策手冊： </a:t>
            </a:r>
            <a:r>
              <a:rPr>
                <a:solidFill>
                  <a:srgbClr val="E2E8F0"/>
                </a:solidFill>
              </a:rPr>
              <a:t>明定 Zero-Direct-Push 鐵律與具名審批 SOP。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Notion 企業級工作空間原型： </a:t>
            </a:r>
            <a:r>
              <a:rPr>
                <a:solidFill>
                  <a:srgbClr val="E2E8F0"/>
                </a:solidFill>
              </a:rPr>
              <a:t>完成 16 位同仁任務看板與每日工時填報範本配置。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Git 倉庫遷移與 Secret 脫敏清冊： </a:t>
            </a:r>
            <a:r>
              <a:rPr>
                <a:solidFill>
                  <a:srgbClr val="E2E8F0"/>
                </a:solidFill>
              </a:rPr>
              <a:t>抹除歷史代碼中的連線字串，完成 AD 帳號整合。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周副總簽署發布集團《軟體工程與版控治理規程》！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04 · 2026/11/23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D365 F&amp;O 整合路徑升級與微軟 2026-11-30 停用防禦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完成 Azure Synapse Link for F&amp;O 概念驗證，實證每小時 10 萬筆資料零衝擊同步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38BDF8"/>
                </a:solidFill>
              </a:rPr>
              <a:t>  [架構防禦]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重大停用風險排查： </a:t>
            </a:r>
            <a:r>
              <a:rPr>
                <a:solidFill>
                  <a:srgbClr val="E2E8F0"/>
                </a:solidFill>
              </a:rPr>
              <a:t>及時預警微軟 Export to Data Lake 於 2026-11-30 停用之危機。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Synapse Link 成功 PoC： </a:t>
            </a:r>
            <a:r>
              <a:rPr>
                <a:solidFill>
                  <a:srgbClr val="E2E8F0"/>
                </a:solidFill>
              </a:rPr>
              <a:t>實測將 D365 SalesTable 以近即時 Parquet 格式鏡像至 ADLS Gen2。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ERP 運算零衝擊驗證： </a:t>
            </a:r>
            <a:r>
              <a:rPr>
                <a:solidFill>
                  <a:srgbClr val="E2E8F0"/>
                </a:solidFill>
              </a:rPr>
              <a:t>實證同步管線運作時，D365 ERP CPU 佔用 &lt; 2%，無任何鎖表。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開放格式無廠商綁定： </a:t>
            </a:r>
            <a:r>
              <a:rPr>
                <a:solidFill>
                  <a:srgbClr val="E2E8F0"/>
                </a:solidFill>
              </a:rPr>
              <a:t>資料以開放 Parquet 存放，未來無論跨雲分析或對接皆無壁壘。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D365 資料整合選型白皮書： </a:t>
            </a:r>
            <a:r>
              <a:rPr>
                <a:solidFill>
                  <a:srgbClr val="E2E8F0"/>
                </a:solidFill>
              </a:rPr>
              <a:t>深度評比 Synapse Link 與 Fabric Link 之 TCO 與維運代價。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Synapse Link PoC 實測報告： </a:t>
            </a:r>
            <a:r>
              <a:rPr>
                <a:solidFill>
                  <a:srgbClr val="E2E8F0"/>
                </a:solidFill>
              </a:rPr>
              <a:t>出具每小時 10 萬筆資料同步無延遲之實測性能數據。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生產環境平滑切換甘特排程： </a:t>
            </a:r>
            <a:r>
              <a:rPr>
                <a:solidFill>
                  <a:srgbClr val="E2E8F0"/>
                </a:solidFill>
              </a:rPr>
              <a:t>排定 2027 Q1 正式切換，徹底消除業務斷線風險。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ERP 主管與資訊主管共同簽章，確認升級方案定案！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05 · 2026/11/30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海外三廠邊緣韌性定案：ASUS Ascent GX10 部署規範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落實周副總指示，選用輕量化工業級工控機，確保海外車間 48~72h 離線生產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E87524"/>
                </a:solidFill>
              </a:rPr>
              <a:t>  [邊緣定案]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華碩 GX10 專業選型： </a:t>
            </a:r>
            <a:r>
              <a:rPr>
                <a:solidFill>
                  <a:srgbClr val="E2E8F0"/>
                </a:solidFill>
              </a:rPr>
              <a:t>體積小、防棉絮粉塵、支援寬溫，單台僅數萬元，性價比極致。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48~72h 離線自律協議： </a:t>
            </a:r>
            <a:r>
              <a:rPr>
                <a:solidFill>
                  <a:srgbClr val="E2E8F0"/>
                </a:solidFill>
              </a:rPr>
              <a:t>海纜斷網時 3 秒無感切換本機接管，現場車縫計件不停擺。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邊緣輕量軟體棧： </a:t>
            </a:r>
            <a:r>
              <a:rPr>
                <a:solidFill>
                  <a:srgbClr val="E2E8F0"/>
                </a:solidFill>
              </a:rPr>
              <a:t>部署 SQLite WAL 預寫日誌與 DuckDB，保證資料不壞軌、零遺失。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消除巨型主機浪費： </a:t>
            </a:r>
            <a:r>
              <a:rPr>
                <a:solidFill>
                  <a:srgbClr val="E2E8F0"/>
                </a:solidFill>
              </a:rPr>
              <a:t>打破海外廠需買數百萬大型伺服器迷思，為公司省下 80% 費用。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ASUS Ascent GX10 部署手冊： </a:t>
            </a:r>
            <a:r>
              <a:rPr>
                <a:solidFill>
                  <a:srgbClr val="E2E8F0"/>
                </a:solidFill>
              </a:rPr>
              <a:t>制定車間導軌安裝、防塵清潔與機房環境監控 SOP。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48~72h 離線自治演算法架構圖： </a:t>
            </a:r>
            <a:r>
              <a:rPr>
                <a:solidFill>
                  <a:srgbClr val="E2E8F0"/>
                </a:solidFill>
              </a:rPr>
              <a:t>完成 Envoy Proxy 本地接管與狀態機時序圖。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海外三廠邊緣採購規格清冊： </a:t>
            </a:r>
            <a:r>
              <a:rPr>
                <a:solidFill>
                  <a:srgbClr val="E2E8F0"/>
                </a:solidFill>
              </a:rPr>
              <a:t>每廠配置 2~3 台，海外合計數十萬搞定，極度精實。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周副總正式核定海外三廠邊緣架構與硬體採購清單！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06 · 2026/12/07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機房 85 萬網路儲存升級審定 ＆ 中期審查 (M1)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確認 NetApp 25G 網卡與 Core Switch 模組更換，採 DAC 直連線降本 70%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F59E0B"/>
                </a:solidFill>
              </a:rPr>
              <a:t>  [中期審查]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M1 里程碑圓滿達成： </a:t>
            </a:r>
            <a:r>
              <a:rPr>
                <a:solidFill>
                  <a:srgbClr val="E2E8F0"/>
                </a:solidFill>
              </a:rPr>
              <a:t>審查前 6 週所有架構交付物，Pillar I 基礎底座 100% 依甘特圖推進。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副總確認 85 萬方向正確： </a:t>
            </a:r>
            <a:r>
              <a:rPr>
                <a:solidFill>
                  <a:srgbClr val="E2E8F0"/>
                </a:solidFill>
              </a:rPr>
              <a:t>確認 Switch 缺乏 25G 介面、NetApp 吞吐沒問題，預算花在刀口。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DAC 直連線降本提案： </a:t>
            </a:r>
            <a:r>
              <a:rPr>
                <a:solidFill>
                  <a:srgbClr val="E2E8F0"/>
                </a:solidFill>
              </a:rPr>
              <a:t>相鄰機櫃採用 25G SFP28 DAC 直連銅纜，省下數萬元光模組開銷。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LACP 雙迴路備援規劃： </a:t>
            </a:r>
            <a:r>
              <a:rPr>
                <a:solidFill>
                  <a:srgbClr val="E2E8F0"/>
                </a:solidFill>
              </a:rPr>
              <a:t>NetApp 4 埠網卡配置 2 埠做雙活高可用，防範單點網路故障。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M1 中期里程碑審查總結報告： </a:t>
            </a:r>
            <a:r>
              <a:rPr>
                <a:solidFill>
                  <a:srgbClr val="E2E8F0"/>
                </a:solidFill>
              </a:rPr>
              <a:t>出具前 6 週技術體檢、版控收斂與邊緣定案成果。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機房 85 萬網路儲存工程規格書： </a:t>
            </a:r>
            <a:r>
              <a:rPr>
                <a:solidFill>
                  <a:srgbClr val="E2E8F0"/>
                </a:solidFill>
              </a:rPr>
              <a:t>核定 NetApp Quad 25G 與 Switch 模組詳細 BOM 表。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25G DAC 降本效益分析書： </a:t>
            </a:r>
            <a:r>
              <a:rPr>
                <a:solidFill>
                  <a:srgbClr val="E2E8F0"/>
                </a:solidFill>
              </a:rPr>
              <a:t>論證零延遲、零功耗優勢，獲副總全盤採納。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計劃主持人周文津副總經理正式簽署 M1 審核通過！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07 · 2026/12/14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訂單款式結構圖去識別化 ＆ AWS 算力年費釐清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正式更名成衣術語，釐清 AWS 算力年費約 38 萬非月費，建立去識別化脫敏管線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38BDF8"/>
                </a:solidFill>
              </a:rPr>
              <a:t>  [AI 預算收斂]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全面正名專業術語： </a:t>
            </a:r>
            <a:r>
              <a:rPr>
                <a:solidFill>
                  <a:srgbClr val="E2E8F0"/>
                </a:solidFill>
              </a:rPr>
              <a:t>淘汰『娃娃圖』俗稱，正式定調為『訂單款式結構圖』。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時間單位誤解徹底消除： </a:t>
            </a:r>
            <a:r>
              <a:rPr>
                <a:solidFill>
                  <a:srgbClr val="E2E8F0"/>
                </a:solidFill>
              </a:rPr>
              <a:t>澄清 AWS 算力 30~50 萬為『全年度總額』，月均僅 3~4 萬！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前端去識別化脫敏管線： </a:t>
            </a:r>
            <a:r>
              <a:rPr>
                <a:solidFill>
                  <a:srgbClr val="E2E8F0"/>
                </a:solidFill>
              </a:rPr>
              <a:t>圖檔上傳前自動抹除品牌 Logo 與款號，完全杜絕機密外洩。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AWS Bedrock 向量比對庫： </a:t>
            </a:r>
            <a:r>
              <a:rPr>
                <a:solidFill>
                  <a:srgbClr val="E2E8F0"/>
                </a:solidFill>
              </a:rPr>
              <a:t>以極低 OpEx 支撐以圖找圖模型與 Tech Pack 多國自動翻譯。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訂單款式結構圖去識別化 SOP： </a:t>
            </a:r>
            <a:r>
              <a:rPr>
                <a:solidFill>
                  <a:srgbClr val="E2E8F0"/>
                </a:solidFill>
              </a:rPr>
              <a:t>發布本地去背、標籤抹除與向量化標準作業程序。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AWS 雲端算力年度成本模型： </a:t>
            </a:r>
            <a:r>
              <a:rPr>
                <a:solidFill>
                  <a:srgbClr val="E2E8F0"/>
                </a:solidFill>
              </a:rPr>
              <a:t>鎖定全年度約 NT$ 38.4 萬，維持零折舊高彈性架構。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成衣專業標準工程術語對照表： </a:t>
            </a:r>
            <a:r>
              <a:rPr>
                <a:solidFill>
                  <a:srgbClr val="E2E8F0"/>
                </a:solidFill>
              </a:rPr>
              <a:t>正式發布款式平面工藝圖等國際製造術語規範。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副總高度認同，確認維持現狀走 AWS 是替公司省錢最優解！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08 · 2026/12/21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雙層語意層架構設計 ＆ 成衣 20 大核心指標統一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引進 Gartner 2026 研調訊號，落實不搬資料雙層語意，消滅 AI 預測與報表矛盾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F59E0B"/>
                </a:solidFill>
              </a:rPr>
              <a:t>  [語意治理]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Gartner 2026 研調引進： </a:t>
            </a:r>
            <a:r>
              <a:rPr>
                <a:solidFill>
                  <a:srgbClr val="E2E8F0"/>
                </a:solidFill>
              </a:rPr>
              <a:t>剖析上下文工程與語意豐富資料層，作為架構戰略背書。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不搬資料雙層語意設計： </a:t>
            </a:r>
            <a:r>
              <a:rPr>
                <a:solidFill>
                  <a:srgbClr val="E2E8F0"/>
                </a:solidFill>
              </a:rPr>
              <a:t>Tier 1 業務/AI ＋ Tier 2 企業級，透過 DirectLake 虛擬化查詢。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20 大指標公式正式發布： </a:t>
            </a:r>
            <a:r>
              <a:rPr>
                <a:solidFill>
                  <a:srgbClr val="E2E8F0"/>
                </a:solidFill>
              </a:rPr>
              <a:t>固化車縫線平衡率、大貨布損率、4-Gate 齊套率標準計算。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指標同源徹底消滅矛盾： </a:t>
            </a:r>
            <a:r>
              <a:rPr>
                <a:solidFill>
                  <a:srgbClr val="E2E8F0"/>
                </a:solidFill>
              </a:rPr>
              <a:t>生管 AI Agent 與清晨 06:00 晨會看板共享同一份指標定義。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雙層語意層實體拓撲規範手冊： </a:t>
            </a:r>
            <a:r>
              <a:rPr>
                <a:solidFill>
                  <a:srgbClr val="E2E8F0"/>
                </a:solidFill>
              </a:rPr>
              <a:t>定義源頭權限、資料血緣與 DirectLake 零複製架構。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20 大成衣核心指標標準公式集： </a:t>
            </a:r>
            <a:r>
              <a:rPr>
                <a:solidFill>
                  <a:srgbClr val="E2E8F0"/>
                </a:solidFill>
              </a:rPr>
              <a:t>出具經財務與生管主管會簽之 DAX/SQL 運算邏輯。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Gartner 2026 研調解讀白皮書： </a:t>
            </a:r>
            <a:r>
              <a:rPr>
                <a:solidFill>
                  <a:srgbClr val="E2E8F0"/>
                </a:solidFill>
              </a:rPr>
              <a:t>深度解析組合式語意層與 OSI 開放標準倡議。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生管與財務主管共同會簽，指標公式正式發布生效！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09 · 2026/12/28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CQS 示範系統 AI Coding 試行 (Sprint 1)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以現代燈塔系統率先試行 AI 輔助開發，實測代碼產出速度提升 28%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38BDF8"/>
                </a:solidFill>
              </a:rPr>
              <a:t>  [AI 試行]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示範燈塔正式啟動： </a:t>
            </a:r>
            <a:r>
              <a:rPr>
                <a:solidFill>
                  <a:srgbClr val="E2E8F0"/>
                </a:solidFill>
              </a:rPr>
              <a:t>以 CQS (.NET 8 + Vue 3) 作為 AI Coding 生命週期管理首波靶場。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35 道單元測試生成： </a:t>
            </a:r>
            <a:r>
              <a:rPr>
                <a:solidFill>
                  <a:srgbClr val="E2E8F0"/>
                </a:solidFill>
              </a:rPr>
              <a:t>運用 AI 輔助為核心檢驗模組生成完整 xUnit 測試套件。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回歸測試縮短至 30 秒： </a:t>
            </a:r>
            <a:r>
              <a:rPr>
                <a:solidFill>
                  <a:srgbClr val="E2E8F0"/>
                </a:solidFill>
              </a:rPr>
              <a:t>改版回歸測試時間由過去人工點擊 2 天大幅縮短至 30 秒！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客觀度量效率提升 28%： </a:t>
            </a:r>
            <a:r>
              <a:rPr>
                <a:solidFill>
                  <a:srgbClr val="E2E8F0"/>
                </a:solidFill>
              </a:rPr>
              <a:t>以 Sprint 燃盡圖與代碼交付量實測，驗證研發效能顯著躍升。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Sprint 1 試行成果與度量報告： </a:t>
            </a:r>
            <a:r>
              <a:rPr>
                <a:solidFill>
                  <a:srgbClr val="E2E8F0"/>
                </a:solidFill>
              </a:rPr>
              <a:t>出具行覆蓋率 78%、速度提升 28% 之客觀數據證明。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CQS 系統 xUnit 測試代碼全集： </a:t>
            </a:r>
            <a:r>
              <a:rPr>
                <a:solidFill>
                  <a:srgbClr val="E2E8F0"/>
                </a:solidFill>
              </a:rPr>
              <a:t>交付 35 道標準測試，建立核心檢驗防護網。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信源專屬 AI Prompt 規則庫： </a:t>
            </a:r>
            <a:r>
              <a:rPr>
                <a:solidFill>
                  <a:srgbClr val="E2E8F0"/>
                </a:solidFill>
              </a:rPr>
              <a:t>約束 AI 在微軟三層架構內編程，防止過度設計。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周副總簽署 Sprint 1 結案，指示依此模式推進 Sprint 2！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10 · 2027/01/04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4-Gate 產前門禁策略模式 ＆ 生管 AI Agent 串聯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完成 C# 策略模式解耦實作，透過 MCP 協議實現生管 Agent 自然語言查核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E87524"/>
                </a:solidFill>
              </a:rPr>
              <a:t>  [門禁聯鎖]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4-Gate 策略模式實作： </a:t>
            </a:r>
            <a:r>
              <a:rPr>
                <a:solidFill>
                  <a:srgbClr val="E2E8F0"/>
                </a:solidFill>
              </a:rPr>
              <a:t>以 GoF Strategy Pattern 解耦設計，新廠新門禁無需改核心代碼。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生管 AI Agent 介接原型： </a:t>
            </a:r>
            <a:r>
              <a:rPr>
                <a:solidFill>
                  <a:srgbClr val="E2E8F0"/>
                </a:solidFill>
              </a:rPr>
              <a:t>透過 MCP 協議，生管人員可自然語言詢問工單 4-Gate 齊套狀態。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缺料物理剛性鎖定： </a:t>
            </a:r>
            <a:r>
              <a:rPr>
                <a:solidFill>
                  <a:srgbClr val="E2E8F0"/>
                </a:solidFill>
              </a:rPr>
              <a:t>物料未齊套系統自動回傳 GATE_UNREADY，硬性鎖死發料條碼。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Review Matrix 實戰運轉： </a:t>
            </a:r>
            <a:r>
              <a:rPr>
                <a:solidFill>
                  <a:srgbClr val="E2E8F0"/>
                </a:solidFill>
              </a:rPr>
              <a:t>高風險門禁代碼由架構師與主管雙簽審核，流程順暢無阻。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4-Gate 策略模式生產等級代碼： </a:t>
            </a:r>
            <a:r>
              <a:rPr>
                <a:solidFill>
                  <a:srgbClr val="E2E8F0"/>
                </a:solidFill>
              </a:rPr>
              <a:t>完成 VerifyFourGatesAsync 介面與四大門禁類別。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生管 AI Agent MCP 工具接口規範： </a:t>
            </a:r>
            <a:r>
              <a:rPr>
                <a:solidFill>
                  <a:srgbClr val="E2E8F0"/>
                </a:solidFill>
              </a:rPr>
              <a:t>發布標準 JSON 協議，支援跨系統自然語言調用。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Sprint 2 試行總結與防呆報告： </a:t>
            </a:r>
            <a:r>
              <a:rPr>
                <a:solidFill>
                  <a:srgbClr val="E2E8F0"/>
                </a:solidFill>
              </a:rPr>
              <a:t>成功在測試環境防禦 3 起缺料開裁模擬事故。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生管主管現場驚艷，確認 4-Gate 為 2027 生產必備防線！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11 · 2027/01/11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企業級 AI-SDLC 治理手冊 ＆ 內控第 9 條之 1 查核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對齊金管會 GenAI 六大原則、品牌智財無菌室與上市櫃資通安全管控清冊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F59E0B"/>
                </a:solidFill>
              </a:rPr>
              <a:t>  [合規稽核]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金管會六大原則落地： </a:t>
            </a:r>
            <a:r>
              <a:rPr>
                <a:solidFill>
                  <a:srgbClr val="E2E8F0"/>
                </a:solidFill>
              </a:rPr>
              <a:t>明定 AI 決策主體為企業，確立人機協同與 30 秒緊急降級。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品牌智財無菌室驗證： </a:t>
            </a:r>
            <a:r>
              <a:rPr>
                <a:solidFill>
                  <a:srgbClr val="E2E8F0"/>
                </a:solidFill>
              </a:rPr>
              <a:t>Nike / Lululemon 實施 ABAC 實體租戶隔離，沙盒檢視禁止下載。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內控第 9 條之 1 專案查核： </a:t>
            </a:r>
            <a:r>
              <a:rPr>
                <a:solidFill>
                  <a:srgbClr val="E2E8F0"/>
                </a:solidFill>
              </a:rPr>
              <a:t>稽核主管全面抽查帳號權限、金鑰輪替與 3 年審計日誌 (WORM)。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AI FinOps Token 配額管制： </a:t>
            </a:r>
            <a:r>
              <a:rPr>
                <a:solidFill>
                  <a:srgbClr val="E2E8F0"/>
                </a:solidFill>
              </a:rPr>
              <a:t>制定技術、業務、生管月度 Token 消耗限額，防止算力失控。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10B981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企業級 AI-SDLC 治理規程手冊： </a:t>
            </a:r>
            <a:r>
              <a:rPr>
                <a:solidFill>
                  <a:srgbClr val="E2E8F0"/>
                </a:solidFill>
              </a:rPr>
              <a:t>明定 Vibe Coding 邊界、MR 門禁與審計日誌標準。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內控第 9 條之 1 專案查核報告： </a:t>
            </a:r>
            <a:r>
              <a:rPr>
                <a:solidFill>
                  <a:srgbClr val="E2E8F0"/>
                </a:solidFill>
              </a:rPr>
              <a:t>出具上市櫃資通安全對照清冊，確認全無重大內控缺失。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品牌客戶智財無菌室實施規範： </a:t>
            </a:r>
            <a:r>
              <a:rPr>
                <a:solidFill>
                  <a:srgbClr val="E2E8F0"/>
                </a:solidFill>
              </a:rPr>
              <a:t>確立去識別化脫敏與 AWS ZDR 不留存協定。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內部稽核主管副署簽核，確認全案 100% 符合上市櫃法規！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WEEK 12 · 2027/01/29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第一階段成果總體驗收、交付審批 ＆ M2 達成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100+ 頁總結報告與高管簡報正式交付，周副總正式核決，拍板啟動第二階段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🎯 當週實施內容與重大突破</a:t>
            </a:r>
            <a:r>
              <a:rPr sz="1000" b="1">
                <a:solidFill>
                  <a:srgbClr val="10B981"/>
                </a:solidFill>
              </a:rPr>
              <a:t>  [結案成果]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全案結案交付大會： </a:t>
            </a:r>
            <a:r>
              <a:rPr>
                <a:solidFill>
                  <a:srgbClr val="E2E8F0"/>
                </a:solidFill>
              </a:rPr>
              <a:t>召開高管經營委員會，正式呈交 100+ 頁總結報告與高管簡報。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M2 里程碑正式達標： </a:t>
            </a:r>
            <a:r>
              <a:rPr>
                <a:solidFill>
                  <a:srgbClr val="E2E8F0"/>
                </a:solidFill>
              </a:rPr>
              <a:t>周文津副總經理正式簽署核決簽審單，確認 Pillar I 全部達標！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第二階段無縫啟動： </a:t>
            </a:r>
            <a:r>
              <a:rPr>
                <a:solidFill>
                  <a:srgbClr val="E2E8F0"/>
                </a:solidFill>
              </a:rPr>
              <a:t>排定 2027 Q2 首批工廠連續 30 天每日結算無差異後全面推展。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組織資產全面移轉： </a:t>
            </a:r>
            <a:r>
              <a:rPr>
                <a:solidFill>
                  <a:srgbClr val="E2E8F0"/>
                </a:solidFill>
              </a:rPr>
              <a:t>技術規範、C# 樣板與 Notion 知識庫 100% 移轉內部 16 位同仁。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📑 交付驗收清冊與成果</a:t>
            </a:r>
            <a:r>
              <a:rPr sz="1000" b="1">
                <a:solidFill>
                  <a:srgbClr val="38BDF8"/>
                </a:solidFill>
              </a:rPr>
              <a:t>  [核決成果]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第一階段 100+ 頁總結報告 (DOCX/PDF)： </a:t>
            </a:r>
            <a:r>
              <a:rPr>
                <a:solidFill>
                  <a:srgbClr val="E2E8F0"/>
                </a:solidFill>
              </a:rPr>
              <a:t>匯整 10 大章節、40 項主題與完整 DDL/代碼規格。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十二週實施全景高管簡報 (PPTX)： </a:t>
            </a:r>
            <a:r>
              <a:rPr>
                <a:solidFill>
                  <a:srgbClr val="E2E8F0"/>
                </a:solidFill>
              </a:rPr>
              <a:t>Deep Obsidian 風格，濃縮 12 週里程碑突破與財務回報。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第二階段 (Pillar II~IV) 實施藍圖： </a:t>
            </a:r>
            <a:r>
              <a:rPr>
                <a:solidFill>
                  <a:srgbClr val="E2E8F0"/>
                </a:solidFill>
              </a:rPr>
              <a:t>規劃端到端流程整合、AI 規模化與智慧製造推進。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★ 計劃主持人周文津副總經理正式核定結案，全案核銷！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CAPITAL GOVERNANCE &amp; FINOPS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2027 相關 IT 資本預算最終收斂對照總表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告別單買大主機粗放結構，打造『有軟、有硬、有工、有雲』的高成熟度配置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43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💵 2027 IT 資本預算調整與實質財務效益對比</a:t>
            </a:r>
            <a:r>
              <a:rPr sz="1000" b="1">
                <a:solidFill>
                  <a:srgbClr val="F59E0B"/>
                </a:solidFill>
              </a:rPr>
              <a:t>  [預算決策矩陣]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1. 總部 AI 實體主機： </a:t>
            </a:r>
            <a:r>
              <a:rPr>
                <a:solidFill>
                  <a:srgbClr val="E2E8F0"/>
                </a:solidFill>
              </a:rPr>
              <a:t>原編 450 萬一次買斷 ➔ 調整為『預算保留額度、分段驗收採購』(下半年下單)，★ 每年現省 150 萬元硬體折舊！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2. 總部網路與儲存： </a:t>
            </a:r>
            <a:r>
              <a:rPr>
                <a:solidFill>
                  <a:srgbClr val="E2E8F0"/>
                </a:solidFill>
              </a:rPr>
              <a:t>維持編列約 85 萬元，方向正確！Core Switch 換 25G 模組 ＋ NetApp 25G 網卡 (採 DAC 直連線降本)，上半年先行完工。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3. 海外三廠邊緣主機： </a:t>
            </a:r>
            <a:r>
              <a:rPr>
                <a:solidFill>
                  <a:srgbClr val="E2E8F0"/>
                </a:solidFill>
              </a:rPr>
              <a:t>原未明確編列 ➔ 採購華碩 ASUS Ascent GX10 邊緣工控機 (越/柬/爪哇合計約 60~80 萬元)，保障 48~72h 離線自律！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4. AWS 雲端算力 OpEx： </a:t>
            </a:r>
            <a:r>
              <a:rPr>
                <a:solidFill>
                  <a:srgbClr val="E2E8F0"/>
                </a:solidFill>
              </a:rPr>
              <a:t>原未單獨編列 ➔ 確認全年度約 30～50 萬元 (月均僅約 3～4 萬元)，以極低 OpEx 支撐翻譯與款式圖去識別化比對。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5. 外部系統整合 (SI)： </a:t>
            </a:r>
            <a:r>
              <a:rPr>
                <a:solidFill>
                  <a:srgbClr val="E2E8F0"/>
                </a:solidFill>
              </a:rPr>
              <a:t>若委外約 80~120 萬 ➔ ★ 調整為【0 元】(由信源內部 16 位同仁自行開發)，充分發揮內部 C# 戰力，省下整筆委外費！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硬性財務回報對沖： </a:t>
            </a:r>
            <a:r>
              <a:rPr>
                <a:solidFill>
                  <a:srgbClr val="E2E8F0"/>
                </a:solidFill>
              </a:rPr>
              <a:t>每年成功防禦 2 次空運包機違約 (省 $500k) ＋ 大貨布損改善 1.2% (省 $700k)，★ 每年節省現金流 NT$ 37,050,000！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總體投資回收結論： </a:t>
            </a:r>
            <a:r>
              <a:rPr>
                <a:solidFill>
                  <a:srgbClr val="E2E8F0"/>
                </a:solidFill>
              </a:rPr>
              <a:t>★ 總投資 NT$ 2,016 萬，全額淨投資回收期僅需 6.5 個月，整體投資報酬率 ROI 達 1 : 1.84！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信源全球 (RSI Group) · 蜂巢計畫第一階段 12 週實施全景高管簡報 ｜ 計劃主持人：周文津 副總經理 ｜ 執行負責人：Howard Liao Ph.D.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EXECUTIVE GOVERNANCE &amp; CLOSE-OUT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第一階段顧問服務正式成果交付與雙簽核決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蜂巢計畫第一階段圓滿成功，信源全球數位底座與治理體系全面就緒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信源全球 (RSI Group) · 計劃主持人</a:t>
            </a:r>
            <a:r>
              <a:rPr sz="1000" b="1">
                <a:solidFill>
                  <a:srgbClr val="F59E0B"/>
                </a:solidFill>
              </a:rPr>
              <a:t>  [審批簽署]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核決主管： </a:t>
            </a:r>
            <a:r>
              <a:rPr>
                <a:solidFill>
                  <a:srgbClr val="E2E8F0"/>
                </a:solidFill>
              </a:rPr>
              <a:t>周文津 副總經理 (信源全球)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審定意見： </a:t>
            </a:r>
            <a:r>
              <a:rPr>
                <a:solidFill>
                  <a:srgbClr val="E2E8F0"/>
                </a:solidFill>
              </a:rPr>
              <a:t>蜂巢計畫第一階段依約圓滿達成。Pillar I 數位底座 8 大領域架構清晰、預算收斂務實有效、海外廠邊緣離線自治通過 72 小時實兵拔線演習驗證。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核決結論： </a:t>
            </a:r>
            <a:r>
              <a:rPr>
                <a:solidFill>
                  <a:srgbClr val="E2E8F0"/>
                </a:solidFill>
              </a:rPr>
              <a:t>【第一階段成果准予正式結案，同意啟動第二階段】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簽署日期： </a:t>
            </a:r>
            <a:r>
              <a:rPr>
                <a:solidFill>
                  <a:srgbClr val="E2E8F0"/>
                </a:solidFill>
              </a:rPr>
              <a:t>2027 年 01 月 29 日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簽署代表： </a:t>
            </a:r>
            <a:r>
              <a:rPr>
                <a:solidFill>
                  <a:srgbClr val="E2E8F0"/>
                </a:solidFill>
              </a:rPr>
              <a:t>周文津 (簽名/印鑑)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蜂巢計畫 (Project Hive) · 執行負責人</a:t>
            </a:r>
            <a:r>
              <a:rPr sz="1000" b="1">
                <a:solidFill>
                  <a:srgbClr val="E87524"/>
                </a:solidFill>
              </a:rPr>
              <a:t>  [提報簽署]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外部顧問： </a:t>
            </a:r>
            <a:r>
              <a:rPr>
                <a:solidFill>
                  <a:srgbClr val="E2E8F0"/>
                </a:solidFill>
              </a:rPr>
              <a:t>Howard Liao Ph.D. (外部企業架構顧問)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執行報告： </a:t>
            </a:r>
            <a:r>
              <a:rPr>
                <a:solidFill>
                  <a:srgbClr val="E2E8F0"/>
                </a:solidFill>
              </a:rPr>
              <a:t>感謝周副總經理的卓越指導與信任。本案 17 個顧問服務日投入已悉數依約履行，交付 100+ 頁總結報告、十二週簡報與完整生產級代碼資產。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後續承諾： </a:t>
            </a:r>
            <a:r>
              <a:rPr>
                <a:solidFill>
                  <a:srgbClr val="E2E8F0"/>
                </a:solidFill>
              </a:rPr>
              <a:t>持續以領先架構守護信源全球跨國製造韌性與 2027 智能營運。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提報日期： </a:t>
            </a:r>
            <a:r>
              <a:rPr>
                <a:solidFill>
                  <a:srgbClr val="E2E8F0"/>
                </a:solidFill>
              </a:rPr>
              <a:t>2027 年 01 月 29 日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</a:defRPr>
            </a:pPr>
            <a:r>
              <a:rPr b="1">
                <a:solidFill>
                  <a:srgbClr val="F59E0B"/>
                </a:solidFill>
              </a:rPr>
              <a:t>簽署代表： </a:t>
            </a:r>
            <a:r>
              <a:rPr>
                <a:solidFill>
                  <a:srgbClr val="E2E8F0"/>
                </a:solidFill>
              </a:rPr>
              <a:t>Howard Liao Ph.D. (簽名/印鑑)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